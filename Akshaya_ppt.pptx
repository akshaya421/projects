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67" r:id="rId4"/>
    <p:sldId id="268" r:id="rId5"/>
    <p:sldId id="269" r:id="rId6"/>
    <p:sldId id="270" r:id="rId7"/>
    <p:sldId id="271" r:id="rId8"/>
    <p:sldId id="272" r:id="rId9"/>
    <p:sldId id="273" r:id="rId10"/>
    <p:sldId id="274" r:id="rId11"/>
    <p:sldId id="276" r:id="rId12"/>
    <p:sldId id="277"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5" d="100"/>
          <a:sy n="75" d="100"/>
        </p:scale>
        <p:origin x="58"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9685D-60E7-4F1A-95F2-B34CB3673A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2F2CC2-16FE-4B78-90C1-9C05631FA7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8F83F4-727E-4191-BA8C-CAA67C02C6FB}"/>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76FCC229-D994-499A-AD9A-D5052D7DBA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80247-12FB-41BF-89D2-19EA79E6D814}"/>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390126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2D543-48D1-4955-996A-C96CB283AC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FF91E8-EC8E-4011-A177-DFED53636C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20CB7B-ADCF-4B08-A871-5021A4CB0DFA}"/>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5F4421E0-DB6F-4931-980F-A529BF63A2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35BB4E-ABD7-4CD3-8B04-B98AC897AEFE}"/>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231277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F47CD-C672-4543-BB3E-5FFC5D6139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C2E6E7-F54C-4637-A7D3-D64EEC43DC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D3BDB0-6ED3-444C-B1D9-10B2AF563D60}"/>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EB0990A6-000C-4718-A9D6-EBFB1CF0AE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7B8D1-E43A-4DE3-BCB1-00F37264342C}"/>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2736069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E3D1-EE0E-485A-BE99-344F0EDD73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CBABDD-9D8E-46E5-BECB-5E0FFBA685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2BBF55-6D1C-45DC-9BA9-C2585C3D5F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2F8009-BBE3-41B4-B7BA-0FBFBA0FC720}"/>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6" name="Footer Placeholder 5">
            <a:extLst>
              <a:ext uri="{FF2B5EF4-FFF2-40B4-BE49-F238E27FC236}">
                <a16:creationId xmlns:a16="http://schemas.microsoft.com/office/drawing/2014/main" id="{C5568D5D-4BAC-4296-8904-C94ADAA161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AD2CA1-51F6-4257-88D5-16136AD9FAB6}"/>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376363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B883-B387-4EEA-9A90-70E2129DBA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0B3FB8-D445-4BD0-B72B-08E7A3C7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4CC533-934F-4E1C-8FE5-5A133BC3C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F8CA61-0CEB-4223-8DA7-5BC6928EA2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D9EE16-1137-4D08-8097-590795006A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1E7D1B-C2A3-4ECE-829A-648838DC07BE}"/>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8" name="Footer Placeholder 7">
            <a:extLst>
              <a:ext uri="{FF2B5EF4-FFF2-40B4-BE49-F238E27FC236}">
                <a16:creationId xmlns:a16="http://schemas.microsoft.com/office/drawing/2014/main" id="{31E67031-65F0-48A3-ABFB-13E8C2F011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28D77B-BC8C-4444-AB83-4C2627E2A624}"/>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4062318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0D21-4590-4412-99B6-B768C4E01A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ECDEFB-20AF-40B3-9228-1B6515A2B9FA}"/>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4" name="Footer Placeholder 3">
            <a:extLst>
              <a:ext uri="{FF2B5EF4-FFF2-40B4-BE49-F238E27FC236}">
                <a16:creationId xmlns:a16="http://schemas.microsoft.com/office/drawing/2014/main" id="{0EAFE6E7-E8A4-40A3-B384-AE25A26D26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567FCB-2BF0-454B-8E9D-6C835C13315B}"/>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349106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06676D-BA8A-4803-920F-8C9F7BDF7126}"/>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3" name="Footer Placeholder 2">
            <a:extLst>
              <a:ext uri="{FF2B5EF4-FFF2-40B4-BE49-F238E27FC236}">
                <a16:creationId xmlns:a16="http://schemas.microsoft.com/office/drawing/2014/main" id="{305678D9-A5B3-4913-8F59-F14CDFD696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3D3A59-7BDC-410B-AFF6-7C328E17F5CF}"/>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3935146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C2E2-BB28-4A00-80C2-0AD2C6ED61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71DBE1-9A24-4E5A-A5AE-6C20202946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926C7A-0171-479D-9032-0E632E4050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5CBC1-2935-47FF-AECC-B5321BB9DA7B}"/>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6" name="Footer Placeholder 5">
            <a:extLst>
              <a:ext uri="{FF2B5EF4-FFF2-40B4-BE49-F238E27FC236}">
                <a16:creationId xmlns:a16="http://schemas.microsoft.com/office/drawing/2014/main" id="{6A5A4DE0-36B3-4EF9-862B-910822D2CE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CA7D32-B675-405E-AA2F-9947AEBCB21B}"/>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84007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B266-0B27-43F0-B7E2-C166D9F21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2BE21E-D1D4-414A-8698-F5AA90BD3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4FDB08-3746-462B-BDF4-741191B73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96CECB-0585-4CF1-B50A-2CFD06DB81A9}"/>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6" name="Footer Placeholder 5">
            <a:extLst>
              <a:ext uri="{FF2B5EF4-FFF2-40B4-BE49-F238E27FC236}">
                <a16:creationId xmlns:a16="http://schemas.microsoft.com/office/drawing/2014/main" id="{C3B06B1D-D401-49C4-9024-0411B1227B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741AF2-A70D-4367-BC70-E8FAA1C168B8}"/>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4152097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50348-94ED-43B8-A419-18722D65EE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E33B8A-4856-433B-B989-B5A4E383B1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395FA4-58D1-4F44-803D-F3E1697A841E}"/>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7D3718BD-CCE7-44C6-8C26-945F177B49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DB6BBF-DAC2-49BE-BEC7-85BDFEA0ED29}"/>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4233601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762495-B70E-4A8C-83AC-FBA2A2421E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208E53-9AF3-4297-9F2F-D56EF0C702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6AC8FF-BEDF-4F1F-8B98-519919A9380B}"/>
              </a:ext>
            </a:extLst>
          </p:cNvPr>
          <p:cNvSpPr>
            <a:spLocks noGrp="1"/>
          </p:cNvSpPr>
          <p:nvPr>
            <p:ph type="dt" sz="half" idx="10"/>
          </p:nvPr>
        </p:nvSpPr>
        <p:spPr/>
        <p:txBody>
          <a:body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062AA1E9-827C-4389-A785-E08CEB9C6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EF3C4-9367-47FB-9B68-1939C5B30AF3}"/>
              </a:ext>
            </a:extLst>
          </p:cNvPr>
          <p:cNvSpPr>
            <a:spLocks noGrp="1"/>
          </p:cNvSpPr>
          <p:nvPr>
            <p:ph type="sldNum" sz="quarter" idx="12"/>
          </p:nvPr>
        </p:nvSpPr>
        <p:spPr/>
        <p:txBody>
          <a:bodyPr/>
          <a:lstStyle/>
          <a:p>
            <a:fld id="{20CC4E96-C74B-4278-949E-4C5AE75C3E54}" type="slidenum">
              <a:rPr lang="en-IN" smtClean="0"/>
              <a:t>‹#›</a:t>
            </a:fld>
            <a:endParaRPr lang="en-IN"/>
          </a:p>
        </p:txBody>
      </p:sp>
    </p:spTree>
    <p:extLst>
      <p:ext uri="{BB962C8B-B14F-4D97-AF65-F5344CB8AC3E}">
        <p14:creationId xmlns:p14="http://schemas.microsoft.com/office/powerpoint/2010/main" val="291569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44A95-BFAC-4E09-BFB4-233408AC2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457830-22ED-49EB-82E9-9B2E177510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7FB12A-AD4F-49C4-92DE-47A114275D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5EBAD5-9729-4FE8-940A-BF3FD2CDE9A6}" type="datetimeFigureOut">
              <a:rPr lang="en-IN" smtClean="0"/>
              <a:t>03-08-2025</a:t>
            </a:fld>
            <a:endParaRPr lang="en-IN"/>
          </a:p>
        </p:txBody>
      </p:sp>
      <p:sp>
        <p:nvSpPr>
          <p:cNvPr id="5" name="Footer Placeholder 4">
            <a:extLst>
              <a:ext uri="{FF2B5EF4-FFF2-40B4-BE49-F238E27FC236}">
                <a16:creationId xmlns:a16="http://schemas.microsoft.com/office/drawing/2014/main" id="{71A2446A-3AB0-4E1E-8DFF-4D4F808850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033C40-4236-4B25-A641-FFFD8DD85F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C4E96-C74B-4278-949E-4C5AE75C3E54}" type="slidenum">
              <a:rPr lang="en-IN" smtClean="0"/>
              <a:t>‹#›</a:t>
            </a:fld>
            <a:endParaRPr lang="en-IN"/>
          </a:p>
        </p:txBody>
      </p:sp>
    </p:spTree>
    <p:extLst>
      <p:ext uri="{BB962C8B-B14F-4D97-AF65-F5344CB8AC3E}">
        <p14:creationId xmlns:p14="http://schemas.microsoft.com/office/powerpoint/2010/main" val="513871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E3C4-4BAF-A122-3258-57BA6CE2D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574D3-9A51-7916-15DE-3C584D645F55}"/>
              </a:ext>
            </a:extLst>
          </p:cNvPr>
          <p:cNvSpPr>
            <a:spLocks noGrp="1"/>
          </p:cNvSpPr>
          <p:nvPr>
            <p:ph type="title"/>
          </p:nvPr>
        </p:nvSpPr>
        <p:spPr>
          <a:xfrm>
            <a:off x="6990736" y="4906297"/>
            <a:ext cx="2094270" cy="334142"/>
          </a:xfrm>
          <a:ln>
            <a:noFill/>
          </a:ln>
        </p:spPr>
        <p:txBody>
          <a:bodyPr>
            <a:normAutofit fontScale="90000"/>
          </a:bodyPr>
          <a:lstStyle/>
          <a:p>
            <a:r>
              <a:rPr lang="en-IN" sz="1800" b="1"/>
              <a:t>TEAM MEMBERS</a:t>
            </a:r>
          </a:p>
        </p:txBody>
      </p:sp>
      <p:sp>
        <p:nvSpPr>
          <p:cNvPr id="3" name="Rectangle 4">
            <a:extLst>
              <a:ext uri="{FF2B5EF4-FFF2-40B4-BE49-F238E27FC236}">
                <a16:creationId xmlns:a16="http://schemas.microsoft.com/office/drawing/2014/main" id="{10C86FE5-1D9B-5DBC-7052-A4F720964A83}"/>
              </a:ext>
            </a:extLst>
          </p:cNvPr>
          <p:cNvSpPr>
            <a:spLocks noChangeArrowheads="1"/>
          </p:cNvSpPr>
          <p:nvPr/>
        </p:nvSpPr>
        <p:spPr bwMode="auto">
          <a:xfrm>
            <a:off x="-127135" y="25858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4" name="组合 1">
            <a:extLst>
              <a:ext uri="{FF2B5EF4-FFF2-40B4-BE49-F238E27FC236}">
                <a16:creationId xmlns:a16="http://schemas.microsoft.com/office/drawing/2014/main" id="{70419099-7D3F-DB11-C0F3-054C50704F0E}"/>
              </a:ext>
            </a:extLst>
          </p:cNvPr>
          <p:cNvGrpSpPr>
            <a:grpSpLocks/>
          </p:cNvGrpSpPr>
          <p:nvPr/>
        </p:nvGrpSpPr>
        <p:grpSpPr bwMode="auto">
          <a:xfrm>
            <a:off x="755835" y="146951"/>
            <a:ext cx="9809451" cy="1179811"/>
            <a:chOff x="1507" y="-281"/>
            <a:chExt cx="63749" cy="7839"/>
          </a:xfrm>
        </p:grpSpPr>
        <p:pic>
          <p:nvPicPr>
            <p:cNvPr id="5" name="图片 4">
              <a:extLst>
                <a:ext uri="{FF2B5EF4-FFF2-40B4-BE49-F238E27FC236}">
                  <a16:creationId xmlns:a16="http://schemas.microsoft.com/office/drawing/2014/main" id="{A70C229B-A3AF-2179-D472-4FFDB7AA2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 y="463"/>
              <a:ext cx="63749" cy="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 name="文本框 5">
              <a:extLst>
                <a:ext uri="{FF2B5EF4-FFF2-40B4-BE49-F238E27FC236}">
                  <a16:creationId xmlns:a16="http://schemas.microsoft.com/office/drawing/2014/main" id="{86CC9720-142B-DAF7-184E-E970B8160280}"/>
                </a:ext>
              </a:extLst>
            </p:cNvPr>
            <p:cNvSpPr>
              <a:spLocks noChangeArrowheads="1"/>
            </p:cNvSpPr>
            <p:nvPr/>
          </p:nvSpPr>
          <p:spPr bwMode="auto">
            <a:xfrm>
              <a:off x="10031" y="-281"/>
              <a:ext cx="51142" cy="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a:ln>
                    <a:noFill/>
                  </a:ln>
                  <a:solidFill>
                    <a:srgbClr val="006FBF"/>
                  </a:solidFill>
                  <a:effectLst/>
                  <a:latin typeface="Cambria" panose="02040503050406030204" pitchFamily="18" charset="0"/>
                  <a:ea typeface="Calibri" panose="020F0502020204030204" pitchFamily="34" charset="0"/>
                  <a:cs typeface="Arial" panose="020B0604020202020204" pitchFamily="34" charset="0"/>
                </a:rPr>
                <a:t> </a:t>
              </a:r>
              <a:r>
                <a:rPr kumimoji="0" lang="en-US" altLang="en-US" sz="5400" b="1" i="0" u="none" strike="noStrike" cap="none" normalizeH="0" baseline="0">
                  <a:ln>
                    <a:noFill/>
                  </a:ln>
                  <a:solidFill>
                    <a:srgbClr val="006FBF"/>
                  </a:solidFill>
                  <a:effectLst/>
                  <a:latin typeface="Cambria" panose="02040503050406030204" pitchFamily="18" charset="0"/>
                  <a:ea typeface="Calibri" panose="020F0502020204030204" pitchFamily="34" charset="0"/>
                  <a:cs typeface="Arial" panose="020B0604020202020204" pitchFamily="34" charset="0"/>
                </a:rPr>
                <a:t>ACE</a:t>
              </a:r>
              <a:endParaRPr kumimoji="0" lang="en-US" altLang="en-US" sz="5400" b="0" i="0" u="none" strike="noStrike" cap="none" normalizeH="0" baseline="0">
                <a:ln>
                  <a:noFill/>
                </a:ln>
                <a:solidFill>
                  <a:schemeClr val="tx1"/>
                </a:solidFill>
                <a:effectLst/>
                <a:latin typeface="Arial" panose="020B0604020202020204" pitchFamily="34" charset="0"/>
              </a:endParaRPr>
            </a:p>
          </p:txBody>
        </p:sp>
      </p:grpSp>
      <p:sp>
        <p:nvSpPr>
          <p:cNvPr id="7" name="Rectangle 6">
            <a:extLst>
              <a:ext uri="{FF2B5EF4-FFF2-40B4-BE49-F238E27FC236}">
                <a16:creationId xmlns:a16="http://schemas.microsoft.com/office/drawing/2014/main" id="{5B789B1D-4878-DD0F-06E2-1589E8912924}"/>
              </a:ext>
            </a:extLst>
          </p:cNvPr>
          <p:cNvSpPr>
            <a:spLocks noChangeArrowheads="1"/>
          </p:cNvSpPr>
          <p:nvPr/>
        </p:nvSpPr>
        <p:spPr bwMode="auto">
          <a:xfrm>
            <a:off x="1660091" y="786551"/>
            <a:ext cx="8644546"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1pPr>
            <a:lvl2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2pPr>
            <a:lvl3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3pPr>
            <a:lvl4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4pPr>
            <a:lvl5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5pPr>
            <a:lvl6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6pPr>
            <a:lvl7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7pPr>
            <a:lvl8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8pPr>
            <a:lvl9pPr eaLnBrk="0" fontAlgn="base" hangingPunct="0">
              <a:spcBef>
                <a:spcPct val="0"/>
              </a:spcBef>
              <a:spcAft>
                <a:spcPct val="0"/>
              </a:spcAft>
              <a:tabLst>
                <a:tab pos="2295525" algn="l"/>
                <a:tab pos="3330575" algn="ctr"/>
              </a:tabLs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endParaRPr kumimoji="0" lang="en-US" altLang="en-US" sz="2200" b="1" i="0" u="none" strike="noStrike" cap="none" normalizeH="0" baseline="0" dirty="0">
              <a:ln>
                <a:noFill/>
              </a:ln>
              <a:solidFill>
                <a:srgbClr val="006FB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rgbClr val="006FBF"/>
                </a:solidFill>
                <a:effectLst/>
                <a:latin typeface="Times New Roman" panose="02020603050405020304" pitchFamily="18" charset="0"/>
                <a:ea typeface="Calibri" panose="020F0502020204030204" pitchFamily="34" charset="0"/>
                <a:cs typeface="Times New Roman" panose="02020603050405020304" pitchFamily="18" charset="0"/>
              </a:rPr>
              <a:t> Engineering College</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An AUTONOMOUS Institution</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and Engineering</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 Year B .Tech 	 	Semester – II	 	Section - A</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Project Abstract </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for</a:t>
            </a:r>
            <a:endParaRPr kumimoji="0" lang="en-US" altLang="en-US" sz="24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Real-Time Research Project / Societal Related Project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a:t>
            </a: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effectLst/>
                <a:latin typeface="Times New Roman"/>
                <a:ea typeface="Calibri"/>
                <a:cs typeface="Times New Roman"/>
              </a:rPr>
              <a:t>  “HOSPITAL  MANAGEMENT  RECORD</a:t>
            </a:r>
            <a:r>
              <a:rPr lang="en-US" altLang="en-US" sz="2400" b="1" dirty="0">
                <a:latin typeface="Times New Roman"/>
                <a:ea typeface="Calibri"/>
                <a:cs typeface="Times New Roman"/>
              </a:rPr>
              <a:t> </a:t>
            </a:r>
            <a:r>
              <a:rPr kumimoji="0" lang="en-US" altLang="en-US" sz="2400" b="1" i="0" u="none" strike="noStrike" cap="none" normalizeH="0" baseline="0" dirty="0">
                <a:ln>
                  <a:noFill/>
                </a:ln>
                <a:effectLst/>
                <a:latin typeface="Times New Roman"/>
                <a:ea typeface="Calibri"/>
                <a:cs typeface="Times New Roman"/>
              </a:rPr>
              <a:t>”</a:t>
            </a:r>
            <a:endParaRPr kumimoji="0" lang="en-US" altLang="en-US" sz="2400" b="0" i="0" u="none" strike="noStrike" cap="none" normalizeH="0" baseline="0" dirty="0">
              <a:ln>
                <a:noFill/>
              </a:ln>
              <a:effectLst/>
              <a:latin typeface="Times New Roman"/>
              <a:ea typeface="Calibri"/>
              <a:cs typeface="Times New Roman"/>
            </a:endParaRPr>
          </a:p>
          <a:p>
            <a:pPr marL="0" marR="0" lvl="0" indent="457200" algn="ctr" defTabSz="914400" rtl="0" eaLnBrk="0" fontAlgn="base" latinLnBrk="0" hangingPunct="0">
              <a:lnSpc>
                <a:spcPct val="100000"/>
              </a:lnSpc>
              <a:spcBef>
                <a:spcPct val="0"/>
              </a:spcBef>
              <a:spcAft>
                <a:spcPct val="0"/>
              </a:spcAft>
              <a:buClrTx/>
              <a:buSzTx/>
              <a:buFontTx/>
              <a:buNone/>
              <a:tabLst>
                <a:tab pos="2295525" algn="l"/>
                <a:tab pos="3330575" algn="ct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FEB495F9-602D-067D-A45E-DA2C3BE4C5CF}"/>
              </a:ext>
            </a:extLst>
          </p:cNvPr>
          <p:cNvSpPr/>
          <p:nvPr/>
        </p:nvSpPr>
        <p:spPr>
          <a:xfrm>
            <a:off x="5988276" y="5558824"/>
            <a:ext cx="4316361" cy="831010"/>
          </a:xfrm>
          <a:prstGeom prst="rect">
            <a:avLst/>
          </a:prstGeom>
          <a:ln>
            <a:no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dirty="0"/>
              <a:t>G.AKSHAYA               24AG1A1221</a:t>
            </a:r>
            <a:endParaRPr lang="en-US" dirty="0"/>
          </a:p>
          <a:p>
            <a:pPr algn="ctr"/>
            <a:r>
              <a:rPr lang="en-IN" dirty="0"/>
              <a:t>   CH.SOWJANYA           24AG1A1209</a:t>
            </a:r>
            <a:endParaRPr lang="en-IN" dirty="0">
              <a:ea typeface="Calibri"/>
              <a:cs typeface="Calibri"/>
            </a:endParaRPr>
          </a:p>
          <a:p>
            <a:pPr algn="ctr"/>
            <a:r>
              <a:rPr lang="en-IN" dirty="0"/>
              <a:t>G.UTTEJ KUMAR      24AG1A1244</a:t>
            </a:r>
            <a:endParaRPr lang="en-IN" dirty="0">
              <a:ea typeface="Calibri"/>
              <a:cs typeface="Calibri"/>
            </a:endParaRPr>
          </a:p>
          <a:p>
            <a:pPr algn="ctr"/>
            <a:endParaRPr lang="en-IN" dirty="0"/>
          </a:p>
          <a:p>
            <a:pPr algn="ctr"/>
            <a:endParaRPr lang="en-IN" dirty="0"/>
          </a:p>
        </p:txBody>
      </p:sp>
      <p:sp>
        <p:nvSpPr>
          <p:cNvPr id="9" name="Rectangle 8">
            <a:extLst>
              <a:ext uri="{FF2B5EF4-FFF2-40B4-BE49-F238E27FC236}">
                <a16:creationId xmlns:a16="http://schemas.microsoft.com/office/drawing/2014/main" id="{72BFEADE-6DA5-D1B9-FB32-0FA68CC0BDA1}"/>
              </a:ext>
            </a:extLst>
          </p:cNvPr>
          <p:cNvSpPr/>
          <p:nvPr/>
        </p:nvSpPr>
        <p:spPr>
          <a:xfrm>
            <a:off x="570271" y="4906297"/>
            <a:ext cx="3795252" cy="14741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a:t>*co Ordinator     </a:t>
            </a:r>
            <a:r>
              <a:rPr lang="en-IN"/>
              <a:t>M.SIVA KUMAR sir</a:t>
            </a:r>
          </a:p>
          <a:p>
            <a:pPr algn="ctr"/>
            <a:r>
              <a:rPr lang="en-IN"/>
              <a:t>                     </a:t>
            </a:r>
            <a:r>
              <a:rPr lang="en-IN" err="1"/>
              <a:t>Asst.Professor</a:t>
            </a:r>
            <a:endParaRPr lang="en-IN"/>
          </a:p>
          <a:p>
            <a:pPr algn="ctr"/>
            <a:endParaRPr lang="en-IN"/>
          </a:p>
        </p:txBody>
      </p:sp>
    </p:spTree>
    <p:extLst>
      <p:ext uri="{BB962C8B-B14F-4D97-AF65-F5344CB8AC3E}">
        <p14:creationId xmlns:p14="http://schemas.microsoft.com/office/powerpoint/2010/main" val="612038848"/>
      </p:ext>
    </p:extLst>
  </p:cSld>
  <p:clrMapOvr>
    <a:masterClrMapping/>
  </p:clrMapOvr>
  <mc:AlternateContent xmlns:mc="http://schemas.openxmlformats.org/markup-compatibility/2006">
    <mc:Choice xmlns:p14="http://schemas.microsoft.com/office/powerpoint/2010/main" Requires="p14">
      <p:transition spd="slow" p14:dur="2000" advTm="3765"/>
    </mc:Choice>
    <mc:Fallback>
      <p:transition spd="slow" advTm="376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2BBC-7747-48A7-B23A-5E6938473E65}"/>
              </a:ext>
            </a:extLst>
          </p:cNvPr>
          <p:cNvSpPr>
            <a:spLocks noGrp="1"/>
          </p:cNvSpPr>
          <p:nvPr>
            <p:ph type="title"/>
          </p:nvPr>
        </p:nvSpPr>
        <p:spPr>
          <a:xfrm>
            <a:off x="235947" y="197963"/>
            <a:ext cx="10972800" cy="6381946"/>
          </a:xfrm>
        </p:spPr>
        <p:txBody>
          <a:bodyPr>
            <a:normAutofit/>
          </a:bodyPr>
          <a:lstStyle/>
          <a:p>
            <a:r>
              <a:rPr lang="en-US" sz="3200" dirty="0">
                <a:solidFill>
                  <a:srgbClr val="00B0F0"/>
                </a:solidFill>
              </a:rPr>
              <a:t>                                          </a:t>
            </a:r>
            <a:r>
              <a:rPr lang="en-US" sz="2400" dirty="0">
                <a:solidFill>
                  <a:srgbClr val="00B0F0"/>
                </a:solidFill>
                <a:latin typeface="Arial Black" panose="020B0A04020102020204" pitchFamily="34" charset="0"/>
              </a:rPr>
              <a:t>ABSTRACT:</a:t>
            </a:r>
            <a:br>
              <a:rPr lang="en-US" sz="3200" dirty="0">
                <a:solidFill>
                  <a:srgbClr val="00B0F0"/>
                </a:solidFill>
              </a:rPr>
            </a:br>
            <a:r>
              <a:rPr lang="en-US" sz="2000" dirty="0">
                <a:solidFill>
                  <a:srgbClr val="FF0000"/>
                </a:solidFill>
                <a:latin typeface="+mn-lt"/>
              </a:rPr>
              <a:t>TITLE:</a:t>
            </a:r>
            <a:r>
              <a:rPr lang="en-US" sz="2000" dirty="0"/>
              <a:t>HOSPITAL MANAGEMENT RECORD</a:t>
            </a:r>
            <a:br>
              <a:rPr lang="en-US" sz="2000" dirty="0"/>
            </a:br>
            <a:br>
              <a:rPr lang="en-US" sz="2000" dirty="0"/>
            </a:br>
            <a:r>
              <a:rPr lang="en-US" sz="2000" dirty="0"/>
              <a:t>This project presents a simple yet effective Hospital Management System built using Python's </a:t>
            </a:r>
            <a:r>
              <a:rPr lang="en-US" sz="2000" dirty="0" err="1"/>
              <a:t>Tkinter</a:t>
            </a:r>
            <a:r>
              <a:rPr lang="en-US" sz="2000" dirty="0"/>
              <a:t> library for the graphical user interface. The application is designed to manage patient data in small clinics or healthcare setups by allowing users to add, view, search, update, and delete patient records easily. Each patient record includes key information such as name, age, phone number, gender, illness, a fixed consultant fee, and the bill payment status. The GUI is user-friendly, designed with a clean layout, and features a light blue background to enhance visual appeal and usability. Input fields are provided for user entry, along with radio buttons to select gender and bill status. The system uses a patients.txt file to store records persistently without requiring a database, making it lightweight and portable . Functionality is divided into modules, with clear separation between data handling (file I/O) and interface controls. Patients are displayed in a </a:t>
            </a:r>
            <a:r>
              <a:rPr lang="en-US" sz="2000" dirty="0" err="1"/>
              <a:t>listbox</a:t>
            </a:r>
            <a:r>
              <a:rPr lang="en-US" sz="2000" dirty="0"/>
              <a:t> , and their details can be viewed in pop-up dialogs. Users can search for a patient by name using a keyword search, or update and delete existing records with confirmation prompts to avoid accidental changes. On launching the program, all stored patient records are loaded automatically into the interface. This project is a practical implementation of Python’s core features, combining GUI programming, file handling, and basic data management. It provides an excellent foundation for understanding how desktop-based record systems work and can be further extended with database integration or more advanced features in the future.</a:t>
            </a:r>
            <a:endParaRPr lang="en-IN" sz="2000" dirty="0"/>
          </a:p>
        </p:txBody>
      </p:sp>
    </p:spTree>
    <p:extLst>
      <p:ext uri="{BB962C8B-B14F-4D97-AF65-F5344CB8AC3E}">
        <p14:creationId xmlns:p14="http://schemas.microsoft.com/office/powerpoint/2010/main" val="3233160799"/>
      </p:ext>
    </p:extLst>
  </p:cSld>
  <p:clrMapOvr>
    <a:masterClrMapping/>
  </p:clrMapOvr>
  <mc:AlternateContent xmlns:mc="http://schemas.openxmlformats.org/markup-compatibility/2006">
    <mc:Choice xmlns:p14="http://schemas.microsoft.com/office/powerpoint/2010/main" Requires="p14">
      <p:transition spd="slow" p14:dur="2000" advTm="1229"/>
    </mc:Choice>
    <mc:Fallback>
      <p:transition spd="slow" advTm="122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9E0D-4CF9-4507-9272-25583BF35045}"/>
              </a:ext>
            </a:extLst>
          </p:cNvPr>
          <p:cNvSpPr>
            <a:spLocks noGrp="1"/>
          </p:cNvSpPr>
          <p:nvPr>
            <p:ph type="title"/>
          </p:nvPr>
        </p:nvSpPr>
        <p:spPr>
          <a:xfrm>
            <a:off x="160255" y="129454"/>
            <a:ext cx="11745798" cy="6403320"/>
          </a:xfrm>
        </p:spPr>
        <p:txBody>
          <a:bodyPr>
            <a:normAutofit/>
          </a:bodyPr>
          <a:lstStyle/>
          <a:p>
            <a:r>
              <a:rPr lang="en-US" sz="1800" dirty="0">
                <a:solidFill>
                  <a:srgbClr val="FF0000"/>
                </a:solidFill>
              </a:rPr>
              <a:t># ----------------- IMPORTS -----------------</a:t>
            </a:r>
            <a:br>
              <a:rPr lang="en-US" sz="1800" dirty="0"/>
            </a:br>
            <a:r>
              <a:rPr lang="en-US" sz="1800" dirty="0"/>
              <a:t>import </a:t>
            </a:r>
            <a:r>
              <a:rPr lang="en-US" sz="1800" dirty="0" err="1"/>
              <a:t>tkinter</a:t>
            </a:r>
            <a:r>
              <a:rPr lang="en-US" sz="1800" dirty="0"/>
              <a:t> as </a:t>
            </a:r>
            <a:r>
              <a:rPr lang="en-US" sz="1800" dirty="0" err="1"/>
              <a:t>tk</a:t>
            </a:r>
            <a:r>
              <a:rPr lang="en-US" sz="1800" dirty="0"/>
              <a:t>  </a:t>
            </a:r>
            <a:r>
              <a:rPr lang="en-US" sz="1800" dirty="0">
                <a:solidFill>
                  <a:schemeClr val="accent5"/>
                </a:solidFill>
              </a:rPr>
              <a:t># GUI components</a:t>
            </a:r>
            <a:br>
              <a:rPr lang="en-US" sz="1800" dirty="0"/>
            </a:br>
            <a:r>
              <a:rPr lang="en-US" sz="1800" dirty="0"/>
              <a:t>from </a:t>
            </a:r>
            <a:r>
              <a:rPr lang="en-US" sz="1800" dirty="0" err="1"/>
              <a:t>tkinter</a:t>
            </a:r>
            <a:r>
              <a:rPr lang="en-US" sz="1800" dirty="0"/>
              <a:t> import </a:t>
            </a:r>
            <a:r>
              <a:rPr lang="en-US" sz="1800" dirty="0" err="1"/>
              <a:t>messagebox</a:t>
            </a:r>
            <a:r>
              <a:rPr lang="en-US" sz="1800" dirty="0"/>
              <a:t>, </a:t>
            </a:r>
            <a:r>
              <a:rPr lang="en-US" sz="1800" dirty="0" err="1"/>
              <a:t>simpledialog</a:t>
            </a:r>
            <a:r>
              <a:rPr lang="en-US" sz="1800" dirty="0"/>
              <a:t>  </a:t>
            </a:r>
            <a:r>
              <a:rPr lang="en-US" sz="1800" dirty="0">
                <a:solidFill>
                  <a:schemeClr val="accent5"/>
                </a:solidFill>
              </a:rPr>
              <a:t># Popups &amp; dialogs for alerts and input</a:t>
            </a:r>
            <a:br>
              <a:rPr lang="en-US" sz="1800" dirty="0"/>
            </a:br>
            <a:r>
              <a:rPr lang="en-US" sz="1800" dirty="0"/>
              <a:t>import </a:t>
            </a:r>
            <a:r>
              <a:rPr lang="en-US" sz="1800" dirty="0" err="1"/>
              <a:t>os</a:t>
            </a:r>
            <a:r>
              <a:rPr lang="en-US" sz="1800" dirty="0"/>
              <a:t>  # File system operations</a:t>
            </a:r>
            <a:br>
              <a:rPr lang="en-US" sz="1800" dirty="0"/>
            </a:br>
            <a:br>
              <a:rPr lang="en-US" sz="1800" dirty="0"/>
            </a:br>
            <a:r>
              <a:rPr lang="en-US" sz="1800" dirty="0">
                <a:solidFill>
                  <a:srgbClr val="FF0000"/>
                </a:solidFill>
              </a:rPr>
              <a:t># ----------------- FILE CONFIG -----------------</a:t>
            </a:r>
            <a:br>
              <a:rPr lang="en-US" sz="1800" dirty="0"/>
            </a:br>
            <a:r>
              <a:rPr lang="en-US" sz="1800" dirty="0"/>
              <a:t>FILENAME = "patients.txt"  </a:t>
            </a:r>
            <a:r>
              <a:rPr lang="en-US" sz="1800" dirty="0">
                <a:solidFill>
                  <a:schemeClr val="accent5"/>
                </a:solidFill>
              </a:rPr>
              <a:t># Text file used to store patient records</a:t>
            </a:r>
            <a:br>
              <a:rPr lang="en-US" sz="1800" dirty="0"/>
            </a:br>
            <a:br>
              <a:rPr lang="en-US" sz="1800" dirty="0"/>
            </a:br>
            <a:r>
              <a:rPr lang="en-US" sz="1800" dirty="0">
                <a:solidFill>
                  <a:srgbClr val="FF0000"/>
                </a:solidFill>
              </a:rPr>
              <a:t># ----------------- FILE OPERATIONS -----------------</a:t>
            </a:r>
            <a:br>
              <a:rPr lang="en-US" sz="1800" dirty="0"/>
            </a:br>
            <a:br>
              <a:rPr lang="en-US" sz="1800" dirty="0"/>
            </a:br>
            <a:r>
              <a:rPr lang="en-US" sz="1800" dirty="0">
                <a:solidFill>
                  <a:schemeClr val="accent5"/>
                </a:solidFill>
              </a:rPr>
              <a:t># Function to read patient records from the file</a:t>
            </a:r>
            <a:br>
              <a:rPr lang="en-US" sz="1800" dirty="0">
                <a:solidFill>
                  <a:schemeClr val="accent5"/>
                </a:solidFill>
              </a:rPr>
            </a:br>
            <a:r>
              <a:rPr lang="en-US" sz="1800" dirty="0"/>
              <a:t>def </a:t>
            </a:r>
            <a:r>
              <a:rPr lang="en-US" sz="1800" dirty="0" err="1"/>
              <a:t>read_patients</a:t>
            </a:r>
            <a:r>
              <a:rPr lang="en-US" sz="1800" dirty="0"/>
              <a:t>():</a:t>
            </a:r>
            <a:br>
              <a:rPr lang="en-US" sz="1800" dirty="0"/>
            </a:br>
            <a:r>
              <a:rPr lang="en-US" sz="1800" dirty="0"/>
              <a:t>    if not </a:t>
            </a:r>
            <a:r>
              <a:rPr lang="en-US" sz="1800" dirty="0" err="1"/>
              <a:t>os.path.exists</a:t>
            </a:r>
            <a:r>
              <a:rPr lang="en-US" sz="1800" dirty="0"/>
              <a:t>(FILENAME):  </a:t>
            </a:r>
            <a:r>
              <a:rPr lang="en-US" sz="1800" dirty="0">
                <a:solidFill>
                  <a:schemeClr val="accent5"/>
                </a:solidFill>
              </a:rPr>
              <a:t># If the file doesn't exist yet</a:t>
            </a:r>
            <a:br>
              <a:rPr lang="en-US" sz="1800" dirty="0"/>
            </a:br>
            <a:r>
              <a:rPr lang="en-US" sz="1800" dirty="0"/>
              <a:t>        return []  # Return empty list</a:t>
            </a:r>
            <a:br>
              <a:rPr lang="en-US" sz="1800" dirty="0"/>
            </a:br>
            <a:r>
              <a:rPr lang="en-US" sz="1800" dirty="0"/>
              <a:t>    with open(FILENAME, "r") as file: </a:t>
            </a:r>
            <a:r>
              <a:rPr lang="en-US" sz="1800" dirty="0">
                <a:solidFill>
                  <a:srgbClr val="00B0F0"/>
                </a:solidFill>
              </a:rPr>
              <a:t># here we open the file with read mode</a:t>
            </a:r>
            <a:br>
              <a:rPr lang="en-US" sz="1800" dirty="0">
                <a:solidFill>
                  <a:srgbClr val="00B0F0"/>
                </a:solidFill>
              </a:rPr>
            </a:br>
            <a:r>
              <a:rPr lang="en-US" sz="1800" dirty="0"/>
              <a:t>        return [</a:t>
            </a:r>
            <a:r>
              <a:rPr lang="en-US" sz="1800" dirty="0" err="1"/>
              <a:t>line.strip</a:t>
            </a:r>
            <a:r>
              <a:rPr lang="en-US" sz="1800" dirty="0"/>
              <a:t>().split(",") for line in </a:t>
            </a:r>
            <a:r>
              <a:rPr lang="en-US" sz="1800" dirty="0" err="1"/>
              <a:t>file.readlines</a:t>
            </a:r>
            <a:r>
              <a:rPr lang="en-US" sz="1800" dirty="0"/>
              <a:t>()]  </a:t>
            </a:r>
            <a:r>
              <a:rPr lang="en-US" sz="1800" dirty="0">
                <a:solidFill>
                  <a:schemeClr val="accent5"/>
                </a:solidFill>
              </a:rPr>
              <a:t># Each line is split by commas into a list and strip is used for</a:t>
            </a:r>
            <a:br>
              <a:rPr lang="en-US" sz="1800" dirty="0">
                <a:solidFill>
                  <a:schemeClr val="accent5"/>
                </a:solidFill>
              </a:rPr>
            </a:br>
            <a:r>
              <a:rPr lang="en-US" sz="1800" dirty="0">
                <a:solidFill>
                  <a:schemeClr val="accent5"/>
                </a:solidFill>
              </a:rPr>
              <a:t>removing the space before and after input enter</a:t>
            </a:r>
            <a:br>
              <a:rPr lang="en-US" sz="1800" dirty="0"/>
            </a:br>
            <a:br>
              <a:rPr lang="en-US" sz="1800" dirty="0"/>
            </a:br>
            <a:r>
              <a:rPr lang="en-US" sz="1800" dirty="0">
                <a:solidFill>
                  <a:schemeClr val="accent5"/>
                </a:solidFill>
              </a:rPr>
              <a:t># Function to write (overwrite) patient records into the file</a:t>
            </a:r>
            <a:br>
              <a:rPr lang="en-US" sz="1800" dirty="0"/>
            </a:br>
            <a:r>
              <a:rPr lang="en-US" sz="1800" dirty="0"/>
              <a:t>def </a:t>
            </a:r>
            <a:r>
              <a:rPr lang="en-US" sz="1800" dirty="0" err="1"/>
              <a:t>write_patients</a:t>
            </a:r>
            <a:r>
              <a:rPr lang="en-US" sz="1800" dirty="0"/>
              <a:t>(patients):</a:t>
            </a:r>
            <a:br>
              <a:rPr lang="en-US" sz="1800" dirty="0"/>
            </a:br>
            <a:r>
              <a:rPr lang="en-US" sz="1800" dirty="0"/>
              <a:t>    with open(FILENAME, "w") as file:  </a:t>
            </a:r>
            <a:r>
              <a:rPr lang="en-US" sz="1800" dirty="0">
                <a:solidFill>
                  <a:schemeClr val="accent5"/>
                </a:solidFill>
              </a:rPr>
              <a:t># Opens file in write mode (overwrites old content)</a:t>
            </a:r>
            <a:br>
              <a:rPr lang="en-US" sz="1800" dirty="0">
                <a:solidFill>
                  <a:schemeClr val="accent5"/>
                </a:solidFill>
              </a:rPr>
            </a:br>
            <a:r>
              <a:rPr lang="en-US" sz="1800" dirty="0"/>
              <a:t>        for p in patients:</a:t>
            </a:r>
            <a:br>
              <a:rPr lang="en-US" sz="1800" dirty="0"/>
            </a:br>
            <a:r>
              <a:rPr lang="en-US" sz="1800" dirty="0"/>
              <a:t>            </a:t>
            </a:r>
            <a:r>
              <a:rPr lang="en-US" sz="1800" dirty="0" err="1"/>
              <a:t>file.write</a:t>
            </a:r>
            <a:r>
              <a:rPr lang="en-US" sz="1800" dirty="0"/>
              <a:t>(",".join(p) + "\n")  </a:t>
            </a:r>
            <a:r>
              <a:rPr lang="en-US" sz="1800" dirty="0">
                <a:solidFill>
                  <a:schemeClr val="accent5"/>
                </a:solidFill>
              </a:rPr>
              <a:t># Join each patient record list with commas and write it to file</a:t>
            </a:r>
            <a:endParaRPr lang="en-IN" sz="1800" dirty="0">
              <a:solidFill>
                <a:schemeClr val="accent5"/>
              </a:solidFill>
            </a:endParaRPr>
          </a:p>
        </p:txBody>
      </p:sp>
    </p:spTree>
    <p:extLst>
      <p:ext uri="{BB962C8B-B14F-4D97-AF65-F5344CB8AC3E}">
        <p14:creationId xmlns:p14="http://schemas.microsoft.com/office/powerpoint/2010/main" val="3134169877"/>
      </p:ext>
    </p:extLst>
  </p:cSld>
  <p:clrMapOvr>
    <a:masterClrMapping/>
  </p:clrMapOvr>
  <mc:AlternateContent xmlns:mc="http://schemas.openxmlformats.org/markup-compatibility/2006">
    <mc:Choice xmlns:p14="http://schemas.microsoft.com/office/powerpoint/2010/main" Requires="p14">
      <p:transition spd="slow" p14:dur="2000" advTm="2051"/>
    </mc:Choice>
    <mc:Fallback>
      <p:transition spd="slow" advTm="205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2918-AE88-4F77-ACC4-E2E1E5CDDA53}"/>
              </a:ext>
            </a:extLst>
          </p:cNvPr>
          <p:cNvSpPr>
            <a:spLocks noGrp="1"/>
          </p:cNvSpPr>
          <p:nvPr>
            <p:ph type="title"/>
          </p:nvPr>
        </p:nvSpPr>
        <p:spPr>
          <a:xfrm>
            <a:off x="75414" y="223723"/>
            <a:ext cx="11783505" cy="6111089"/>
          </a:xfrm>
        </p:spPr>
        <p:txBody>
          <a:bodyPr>
            <a:normAutofit fontScale="90000"/>
          </a:bodyPr>
          <a:lstStyle/>
          <a:p>
            <a:br>
              <a:rPr lang="en-IN" sz="1400" dirty="0"/>
            </a:br>
            <a:br>
              <a:rPr lang="en-IN" sz="1400" dirty="0"/>
            </a:br>
            <a:r>
              <a:rPr lang="en-IN" sz="2000" dirty="0">
                <a:solidFill>
                  <a:srgbClr val="FF0000"/>
                </a:solidFill>
              </a:rPr>
              <a:t># ----------------- FUNCTIONALITY -----------------</a:t>
            </a:r>
            <a:br>
              <a:rPr lang="en-IN" sz="2000" dirty="0"/>
            </a:br>
            <a:r>
              <a:rPr lang="en-IN" sz="2000" dirty="0">
                <a:solidFill>
                  <a:srgbClr val="00B0F0"/>
                </a:solidFill>
              </a:rPr>
              <a:t># Function to add a new patient to file and update display</a:t>
            </a:r>
            <a:br>
              <a:rPr lang="en-IN" sz="2000" dirty="0"/>
            </a:br>
            <a:r>
              <a:rPr lang="en-IN" sz="2000" dirty="0"/>
              <a:t>def </a:t>
            </a:r>
            <a:r>
              <a:rPr lang="en-IN" sz="2000" dirty="0" err="1"/>
              <a:t>add_patient</a:t>
            </a:r>
            <a:r>
              <a:rPr lang="en-IN" sz="2000" dirty="0"/>
              <a:t>():</a:t>
            </a:r>
            <a:br>
              <a:rPr lang="en-IN" sz="2000" dirty="0"/>
            </a:br>
            <a:r>
              <a:rPr lang="en-IN" sz="2000" dirty="0">
                <a:solidFill>
                  <a:srgbClr val="00B0F0"/>
                </a:solidFill>
              </a:rPr>
              <a:t>    # Get the values from form inputs</a:t>
            </a:r>
            <a:br>
              <a:rPr lang="en-IN" sz="2000" dirty="0"/>
            </a:br>
            <a:r>
              <a:rPr lang="en-IN" sz="2000" dirty="0"/>
              <a:t>    name = </a:t>
            </a:r>
            <a:r>
              <a:rPr lang="en-IN" sz="2000" dirty="0" err="1"/>
              <a:t>name_entry.get</a:t>
            </a:r>
            <a:r>
              <a:rPr lang="en-IN" sz="2000" dirty="0"/>
              <a:t>().strip()</a:t>
            </a:r>
            <a:br>
              <a:rPr lang="en-IN" sz="2000" dirty="0"/>
            </a:br>
            <a:r>
              <a:rPr lang="en-IN" sz="2000" dirty="0"/>
              <a:t>    age = </a:t>
            </a:r>
            <a:r>
              <a:rPr lang="en-IN" sz="2000" dirty="0" err="1"/>
              <a:t>age_entry.get</a:t>
            </a:r>
            <a:r>
              <a:rPr lang="en-IN" sz="2000" dirty="0"/>
              <a:t>().strip()</a:t>
            </a:r>
            <a:br>
              <a:rPr lang="en-IN" sz="2000" dirty="0"/>
            </a:br>
            <a:r>
              <a:rPr lang="en-IN" sz="2000" dirty="0"/>
              <a:t>    phone = </a:t>
            </a:r>
            <a:r>
              <a:rPr lang="en-IN" sz="2000" dirty="0" err="1"/>
              <a:t>phone_entry.get</a:t>
            </a:r>
            <a:r>
              <a:rPr lang="en-IN" sz="2000" dirty="0"/>
              <a:t>().strip()</a:t>
            </a:r>
            <a:br>
              <a:rPr lang="en-IN" sz="2000" dirty="0"/>
            </a:br>
            <a:r>
              <a:rPr lang="en-IN" sz="2000" dirty="0"/>
              <a:t>    gender = </a:t>
            </a:r>
            <a:r>
              <a:rPr lang="en-IN" sz="2000" dirty="0" err="1"/>
              <a:t>gender_var.get</a:t>
            </a:r>
            <a:r>
              <a:rPr lang="en-IN" sz="2000" dirty="0"/>
              <a:t>()</a:t>
            </a:r>
            <a:br>
              <a:rPr lang="en-IN" sz="2000" dirty="0"/>
            </a:br>
            <a:r>
              <a:rPr lang="en-IN" sz="2000" dirty="0"/>
              <a:t>    illness = </a:t>
            </a:r>
            <a:r>
              <a:rPr lang="en-IN" sz="2000" dirty="0" err="1"/>
              <a:t>illness_entry.get</a:t>
            </a:r>
            <a:r>
              <a:rPr lang="en-IN" sz="2000" dirty="0"/>
              <a:t>().strip()</a:t>
            </a:r>
            <a:br>
              <a:rPr lang="en-IN" sz="2000" dirty="0"/>
            </a:br>
            <a:r>
              <a:rPr lang="en-IN" sz="2000" dirty="0"/>
              <a:t>    </a:t>
            </a:r>
            <a:r>
              <a:rPr lang="en-IN" sz="2000" dirty="0" err="1"/>
              <a:t>bill_paid</a:t>
            </a:r>
            <a:r>
              <a:rPr lang="en-IN" sz="2000" dirty="0"/>
              <a:t> = </a:t>
            </a:r>
            <a:r>
              <a:rPr lang="en-IN" sz="2000" dirty="0" err="1"/>
              <a:t>bill_paid_var.get</a:t>
            </a:r>
            <a:r>
              <a:rPr lang="en-IN" sz="2000" dirty="0"/>
              <a:t>()</a:t>
            </a:r>
            <a:br>
              <a:rPr lang="en-IN" sz="2000" dirty="0"/>
            </a:br>
            <a:r>
              <a:rPr lang="en-IN" sz="2000" dirty="0"/>
              <a:t>    </a:t>
            </a:r>
            <a:r>
              <a:rPr lang="en-IN" sz="2000" dirty="0" err="1"/>
              <a:t>consultant_fee</a:t>
            </a:r>
            <a:r>
              <a:rPr lang="en-IN" sz="2000" dirty="0"/>
              <a:t> = "300"  </a:t>
            </a:r>
            <a:r>
              <a:rPr lang="en-IN" sz="2000" dirty="0">
                <a:solidFill>
                  <a:srgbClr val="00B0F0"/>
                </a:solidFill>
              </a:rPr>
              <a:t># Fixed consultant fee</a:t>
            </a:r>
            <a:br>
              <a:rPr lang="en-IN" sz="2000" dirty="0"/>
            </a:br>
            <a:r>
              <a:rPr lang="en-IN" sz="2000" dirty="0"/>
              <a:t>    </a:t>
            </a:r>
            <a:r>
              <a:rPr lang="en-IN" sz="2000" dirty="0">
                <a:solidFill>
                  <a:srgbClr val="00B0F0"/>
                </a:solidFill>
              </a:rPr>
              <a:t># Validate required fields</a:t>
            </a:r>
            <a:br>
              <a:rPr lang="en-IN" sz="2000" dirty="0"/>
            </a:br>
            <a:r>
              <a:rPr lang="en-IN" sz="2000" dirty="0"/>
              <a:t>    if not name or not age or not phone or not illness:</a:t>
            </a:r>
            <a:br>
              <a:rPr lang="en-IN" sz="2000" dirty="0"/>
            </a:br>
            <a:r>
              <a:rPr lang="en-IN" sz="2000" dirty="0"/>
              <a:t>        </a:t>
            </a:r>
            <a:r>
              <a:rPr lang="en-IN" sz="2000" dirty="0" err="1"/>
              <a:t>messagebox.showwarning</a:t>
            </a:r>
            <a:r>
              <a:rPr lang="en-IN" sz="2000" dirty="0"/>
              <a:t>("Input Error", "All fields are required.")</a:t>
            </a:r>
            <a:br>
              <a:rPr lang="en-IN" sz="2000" dirty="0"/>
            </a:br>
            <a:r>
              <a:rPr lang="en-IN" sz="2000" dirty="0"/>
              <a:t>        return</a:t>
            </a:r>
            <a:br>
              <a:rPr lang="en-IN" sz="2000" dirty="0"/>
            </a:br>
            <a:r>
              <a:rPr lang="en-IN" sz="2000" dirty="0">
                <a:solidFill>
                  <a:srgbClr val="00B0F0"/>
                </a:solidFill>
              </a:rPr>
              <a:t>    # Write new patient record to the file</a:t>
            </a:r>
            <a:br>
              <a:rPr lang="en-IN" sz="2000" dirty="0"/>
            </a:br>
            <a:r>
              <a:rPr lang="en-IN" sz="2000" dirty="0"/>
              <a:t>    with open(FILENAME, "a") as file:  </a:t>
            </a:r>
            <a:r>
              <a:rPr lang="en-IN" sz="2000" dirty="0">
                <a:solidFill>
                  <a:srgbClr val="00B0F0"/>
                </a:solidFill>
              </a:rPr>
              <a:t># Open in append mode to add new record</a:t>
            </a:r>
            <a:br>
              <a:rPr lang="en-IN" sz="2000" dirty="0"/>
            </a:br>
            <a:r>
              <a:rPr lang="en-IN" sz="2000" dirty="0"/>
              <a:t>        </a:t>
            </a:r>
            <a:r>
              <a:rPr lang="en-IN" sz="2000" dirty="0" err="1"/>
              <a:t>file.write</a:t>
            </a:r>
            <a:r>
              <a:rPr lang="en-IN" sz="2000" dirty="0"/>
              <a:t>(f"{name},{age},{phone},{gender},{illness},{</a:t>
            </a:r>
            <a:r>
              <a:rPr lang="en-IN" sz="2000" dirty="0" err="1"/>
              <a:t>consultant_fee</a:t>
            </a:r>
            <a:r>
              <a:rPr lang="en-IN" sz="2000" dirty="0"/>
              <a:t>},{</a:t>
            </a:r>
            <a:r>
              <a:rPr lang="en-IN" sz="2000" dirty="0" err="1"/>
              <a:t>bill_paid</a:t>
            </a:r>
            <a:r>
              <a:rPr lang="en-IN" sz="2000" dirty="0"/>
              <a:t>}\n")</a:t>
            </a:r>
            <a:br>
              <a:rPr lang="en-IN" sz="2000" dirty="0"/>
            </a:br>
            <a:r>
              <a:rPr lang="en-IN" sz="2000" dirty="0"/>
              <a:t>    </a:t>
            </a:r>
            <a:r>
              <a:rPr lang="en-IN" sz="2000" dirty="0" err="1"/>
              <a:t>messagebox.showinfo</a:t>
            </a:r>
            <a:r>
              <a:rPr lang="en-IN" sz="2000" dirty="0"/>
              <a:t>("Success", "Patient record added.")</a:t>
            </a:r>
            <a:br>
              <a:rPr lang="en-IN" sz="2000" dirty="0"/>
            </a:br>
            <a:r>
              <a:rPr lang="en-IN" sz="2000" dirty="0"/>
              <a:t>    </a:t>
            </a:r>
            <a:r>
              <a:rPr lang="en-IN" sz="2000" dirty="0" err="1"/>
              <a:t>clear_fields</a:t>
            </a:r>
            <a:r>
              <a:rPr lang="en-IN" sz="2000" dirty="0"/>
              <a:t>()  # Clear the form fields after adding</a:t>
            </a:r>
            <a:br>
              <a:rPr lang="en-IN" sz="2000" dirty="0"/>
            </a:br>
            <a:r>
              <a:rPr lang="en-IN" sz="2000" dirty="0"/>
              <a:t>    </a:t>
            </a:r>
            <a:r>
              <a:rPr lang="en-IN" sz="2000" dirty="0" err="1"/>
              <a:t>refresh_display</a:t>
            </a:r>
            <a:r>
              <a:rPr lang="en-IN" sz="2000" dirty="0"/>
              <a:t>()  # Update the </a:t>
            </a:r>
            <a:r>
              <a:rPr lang="en-IN" sz="2000" dirty="0" err="1"/>
              <a:t>listbox</a:t>
            </a:r>
            <a:r>
              <a:rPr lang="en-IN" sz="2000" dirty="0"/>
              <a:t> to show the new patient</a:t>
            </a:r>
            <a:br>
              <a:rPr lang="en-IN" sz="2000" dirty="0"/>
            </a:br>
            <a:r>
              <a:rPr lang="en-IN" sz="2000" dirty="0">
                <a:solidFill>
                  <a:srgbClr val="00B0F0"/>
                </a:solidFill>
              </a:rPr>
              <a:t># Refreshes the </a:t>
            </a:r>
            <a:r>
              <a:rPr lang="en-IN" sz="2000" dirty="0" err="1">
                <a:solidFill>
                  <a:srgbClr val="00B0F0"/>
                </a:solidFill>
              </a:rPr>
              <a:t>Listbox</a:t>
            </a:r>
            <a:r>
              <a:rPr lang="en-IN" sz="2000" dirty="0">
                <a:solidFill>
                  <a:srgbClr val="00B0F0"/>
                </a:solidFill>
              </a:rPr>
              <a:t> display with current patients</a:t>
            </a:r>
            <a:br>
              <a:rPr lang="en-IN" sz="2000" dirty="0"/>
            </a:br>
            <a:r>
              <a:rPr lang="en-IN" sz="2000" dirty="0"/>
              <a:t>def </a:t>
            </a:r>
            <a:r>
              <a:rPr lang="en-IN" sz="2000" dirty="0" err="1"/>
              <a:t>refresh_display</a:t>
            </a:r>
            <a:r>
              <a:rPr lang="en-IN" sz="2000" dirty="0"/>
              <a:t>():</a:t>
            </a:r>
            <a:br>
              <a:rPr lang="en-IN" sz="2000" dirty="0"/>
            </a:br>
            <a:r>
              <a:rPr lang="en-IN" sz="2000" dirty="0"/>
              <a:t>    </a:t>
            </a:r>
            <a:r>
              <a:rPr lang="en-IN" sz="2000" dirty="0" err="1"/>
              <a:t>patient_list.delete</a:t>
            </a:r>
            <a:r>
              <a:rPr lang="en-IN" sz="2000" dirty="0"/>
              <a:t>(0, </a:t>
            </a:r>
            <a:r>
              <a:rPr lang="en-IN" sz="2000" dirty="0" err="1"/>
              <a:t>tk.END</a:t>
            </a:r>
            <a:r>
              <a:rPr lang="en-IN" sz="2000" dirty="0"/>
              <a:t>)  </a:t>
            </a:r>
            <a:r>
              <a:rPr lang="en-IN" sz="2000" dirty="0">
                <a:solidFill>
                  <a:srgbClr val="00B0F0"/>
                </a:solidFill>
              </a:rPr>
              <a:t># Clear all existing items</a:t>
            </a:r>
            <a:br>
              <a:rPr lang="en-IN" sz="2000" dirty="0">
                <a:solidFill>
                  <a:srgbClr val="00B0F0"/>
                </a:solidFill>
              </a:rPr>
            </a:br>
            <a:r>
              <a:rPr lang="en-IN" sz="2000" dirty="0"/>
              <a:t>    for p in </a:t>
            </a:r>
            <a:r>
              <a:rPr lang="en-IN" sz="2000" dirty="0" err="1"/>
              <a:t>read_patients</a:t>
            </a:r>
            <a:r>
              <a:rPr lang="en-IN" sz="2000" dirty="0"/>
              <a:t>():</a:t>
            </a:r>
            <a:br>
              <a:rPr lang="en-IN" sz="2000" dirty="0"/>
            </a:br>
            <a:r>
              <a:rPr lang="en-IN" sz="2000" dirty="0"/>
              <a:t>        </a:t>
            </a:r>
            <a:r>
              <a:rPr lang="en-IN" sz="2000" dirty="0" err="1"/>
              <a:t>patient_list.insert</a:t>
            </a:r>
            <a:r>
              <a:rPr lang="en-IN" sz="2000" dirty="0"/>
              <a:t>(</a:t>
            </a:r>
            <a:r>
              <a:rPr lang="en-IN" sz="2000" dirty="0" err="1"/>
              <a:t>tk.END</a:t>
            </a:r>
            <a:r>
              <a:rPr lang="en-IN" sz="2000" dirty="0"/>
              <a:t>, f"{p[0]} ({p[1]} </a:t>
            </a:r>
            <a:r>
              <a:rPr lang="en-IN" sz="2000" dirty="0" err="1"/>
              <a:t>yrs</a:t>
            </a:r>
            <a:r>
              <a:rPr lang="en-IN" sz="2000" dirty="0"/>
              <a:t>)")  </a:t>
            </a:r>
            <a:r>
              <a:rPr lang="en-IN" sz="2000" dirty="0">
                <a:solidFill>
                  <a:srgbClr val="00B0F0"/>
                </a:solidFill>
              </a:rPr>
              <a:t># Add patient's name and age</a:t>
            </a:r>
          </a:p>
        </p:txBody>
      </p:sp>
    </p:spTree>
    <p:extLst>
      <p:ext uri="{BB962C8B-B14F-4D97-AF65-F5344CB8AC3E}">
        <p14:creationId xmlns:p14="http://schemas.microsoft.com/office/powerpoint/2010/main" val="2901415193"/>
      </p:ext>
    </p:extLst>
  </p:cSld>
  <p:clrMapOvr>
    <a:masterClrMapping/>
  </p:clrMapOvr>
  <mc:AlternateContent xmlns:mc="http://schemas.openxmlformats.org/markup-compatibility/2006">
    <mc:Choice xmlns:p14="http://schemas.microsoft.com/office/powerpoint/2010/main" Requires="p14">
      <p:transition spd="slow" p14:dur="2000" advTm="1686"/>
    </mc:Choice>
    <mc:Fallback>
      <p:transition spd="slow" advTm="168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4E1D1-16A2-4D27-87DB-966A6A5D0406}"/>
              </a:ext>
            </a:extLst>
          </p:cNvPr>
          <p:cNvSpPr>
            <a:spLocks noGrp="1"/>
          </p:cNvSpPr>
          <p:nvPr>
            <p:ph type="title"/>
          </p:nvPr>
        </p:nvSpPr>
        <p:spPr>
          <a:xfrm>
            <a:off x="279662" y="713918"/>
            <a:ext cx="11632676" cy="6054528"/>
          </a:xfrm>
        </p:spPr>
        <p:txBody>
          <a:bodyPr>
            <a:noAutofit/>
          </a:bodyPr>
          <a:lstStyle/>
          <a:p>
            <a:r>
              <a:rPr lang="en-IN" sz="1800" dirty="0">
                <a:solidFill>
                  <a:srgbClr val="00B0F0"/>
                </a:solidFill>
              </a:rPr>
              <a:t># Displays full details of selected patient in popup</a:t>
            </a:r>
            <a:br>
              <a:rPr lang="en-IN" sz="1800" dirty="0"/>
            </a:br>
            <a:r>
              <a:rPr lang="en-IN" sz="1800" dirty="0"/>
              <a:t>def </a:t>
            </a:r>
            <a:r>
              <a:rPr lang="en-IN" sz="1800" dirty="0" err="1"/>
              <a:t>show_selected</a:t>
            </a:r>
            <a:r>
              <a:rPr lang="en-IN" sz="1800" dirty="0"/>
              <a:t>():</a:t>
            </a:r>
            <a:br>
              <a:rPr lang="en-IN" sz="1800" dirty="0"/>
            </a:br>
            <a:r>
              <a:rPr lang="en-IN" sz="1800" dirty="0"/>
              <a:t>    index = </a:t>
            </a:r>
            <a:r>
              <a:rPr lang="en-IN" sz="1800" dirty="0" err="1"/>
              <a:t>patient_list.curselection</a:t>
            </a:r>
            <a:r>
              <a:rPr lang="en-IN" sz="1800" dirty="0"/>
              <a:t>()</a:t>
            </a:r>
            <a:br>
              <a:rPr lang="en-IN" sz="1800" dirty="0"/>
            </a:br>
            <a:r>
              <a:rPr lang="en-IN" sz="1800" dirty="0"/>
              <a:t>    if not index:</a:t>
            </a:r>
            <a:br>
              <a:rPr lang="en-IN" sz="1800" dirty="0"/>
            </a:br>
            <a:r>
              <a:rPr lang="en-IN" sz="1800" dirty="0"/>
              <a:t>        return</a:t>
            </a:r>
            <a:br>
              <a:rPr lang="en-IN" sz="1800" dirty="0"/>
            </a:br>
            <a:r>
              <a:rPr lang="en-IN" sz="1800" dirty="0"/>
              <a:t>    patient = </a:t>
            </a:r>
            <a:r>
              <a:rPr lang="en-IN" sz="1800" dirty="0" err="1"/>
              <a:t>read_patients</a:t>
            </a:r>
            <a:r>
              <a:rPr lang="en-IN" sz="1800" dirty="0"/>
              <a:t>()[index[0]]</a:t>
            </a:r>
            <a:br>
              <a:rPr lang="en-IN" sz="1800" dirty="0"/>
            </a:br>
            <a:r>
              <a:rPr lang="en-IN" sz="1800" dirty="0"/>
              <a:t>    </a:t>
            </a:r>
            <a:r>
              <a:rPr lang="en-IN" sz="1800" dirty="0" err="1"/>
              <a:t>messagebox.showinfo</a:t>
            </a:r>
            <a:r>
              <a:rPr lang="en-IN" sz="1800" dirty="0"/>
              <a:t>("Patient Details",</a:t>
            </a:r>
            <a:br>
              <a:rPr lang="en-IN" sz="1800" dirty="0"/>
            </a:br>
            <a:r>
              <a:rPr lang="en-IN" sz="1800" dirty="0"/>
              <a:t>        </a:t>
            </a:r>
            <a:r>
              <a:rPr lang="en-IN" sz="1800" dirty="0" err="1"/>
              <a:t>f"Name</a:t>
            </a:r>
            <a:r>
              <a:rPr lang="en-IN" sz="1800" dirty="0"/>
              <a:t>: {patient[0]}\</a:t>
            </a:r>
            <a:r>
              <a:rPr lang="en-IN" sz="1800" dirty="0" err="1"/>
              <a:t>nAge</a:t>
            </a:r>
            <a:r>
              <a:rPr lang="en-IN" sz="1800" dirty="0"/>
              <a:t>: {patient[1]}\</a:t>
            </a:r>
            <a:r>
              <a:rPr lang="en-IN" sz="1800" dirty="0" err="1"/>
              <a:t>nPhone</a:t>
            </a:r>
            <a:r>
              <a:rPr lang="en-IN" sz="1800" dirty="0"/>
              <a:t>: {patient[2]}\</a:t>
            </a:r>
            <a:r>
              <a:rPr lang="en-IN" sz="1800" dirty="0" err="1"/>
              <a:t>nGender</a:t>
            </a:r>
            <a:r>
              <a:rPr lang="en-IN" sz="1800" dirty="0"/>
              <a:t>: {patient[3]}"</a:t>
            </a:r>
            <a:br>
              <a:rPr lang="en-IN" sz="1800" dirty="0"/>
            </a:br>
            <a:r>
              <a:rPr lang="en-IN" sz="1800" dirty="0"/>
              <a:t>        f"\</a:t>
            </a:r>
            <a:r>
              <a:rPr lang="en-IN" sz="1800" dirty="0" err="1"/>
              <a:t>nIllness</a:t>
            </a:r>
            <a:r>
              <a:rPr lang="en-IN" sz="1800" dirty="0"/>
              <a:t>: {patient[4]}\</a:t>
            </a:r>
            <a:r>
              <a:rPr lang="en-IN" sz="1800" dirty="0" err="1"/>
              <a:t>nConsultant</a:t>
            </a:r>
            <a:r>
              <a:rPr lang="en-IN" sz="1800" dirty="0"/>
              <a:t> Fee: ₹{patient[5]}\</a:t>
            </a:r>
            <a:r>
              <a:rPr lang="en-IN" sz="1800" dirty="0" err="1"/>
              <a:t>nBill</a:t>
            </a:r>
            <a:r>
              <a:rPr lang="en-IN" sz="1800" dirty="0"/>
              <a:t> Paid: {patient[6]}"</a:t>
            </a:r>
            <a:br>
              <a:rPr lang="en-IN" sz="1800" dirty="0"/>
            </a:br>
            <a:r>
              <a:rPr lang="en-IN" sz="1800" dirty="0"/>
              <a:t>    )</a:t>
            </a:r>
            <a:br>
              <a:rPr lang="en-IN" sz="1800" dirty="0"/>
            </a:br>
            <a:r>
              <a:rPr lang="en-IN" sz="1800" dirty="0">
                <a:solidFill>
                  <a:srgbClr val="00B0F0"/>
                </a:solidFill>
              </a:rPr>
              <a:t># Searches patients by name</a:t>
            </a:r>
            <a:br>
              <a:rPr lang="en-IN" sz="1800" dirty="0"/>
            </a:br>
            <a:r>
              <a:rPr lang="en-IN" sz="1800" dirty="0"/>
              <a:t>def </a:t>
            </a:r>
            <a:r>
              <a:rPr lang="en-IN" sz="1800" dirty="0" err="1"/>
              <a:t>search_patient</a:t>
            </a:r>
            <a:r>
              <a:rPr lang="en-IN" sz="1800" dirty="0"/>
              <a:t>():</a:t>
            </a:r>
            <a:br>
              <a:rPr lang="en-IN" sz="1800" dirty="0"/>
            </a:br>
            <a:r>
              <a:rPr lang="en-IN" sz="1800" dirty="0"/>
              <a:t>    keyword = </a:t>
            </a:r>
            <a:r>
              <a:rPr lang="en-IN" sz="1800" dirty="0" err="1"/>
              <a:t>simpledialog.askstring</a:t>
            </a:r>
            <a:r>
              <a:rPr lang="en-IN" sz="1800" dirty="0"/>
              <a:t>("Search", "Enter patient name:")  </a:t>
            </a:r>
            <a:r>
              <a:rPr lang="en-IN" sz="1800" dirty="0">
                <a:solidFill>
                  <a:srgbClr val="00B0F0"/>
                </a:solidFill>
              </a:rPr>
              <a:t># Prompt user</a:t>
            </a:r>
            <a:br>
              <a:rPr lang="en-IN" sz="1800" dirty="0">
                <a:solidFill>
                  <a:srgbClr val="00B0F0"/>
                </a:solidFill>
              </a:rPr>
            </a:br>
            <a:r>
              <a:rPr lang="en-IN" sz="1800" dirty="0"/>
              <a:t>    if not keyword:</a:t>
            </a:r>
            <a:br>
              <a:rPr lang="en-IN" sz="1800" dirty="0"/>
            </a:br>
            <a:r>
              <a:rPr lang="en-IN" sz="1800" dirty="0"/>
              <a:t>        return</a:t>
            </a:r>
            <a:br>
              <a:rPr lang="en-IN" sz="1800" dirty="0"/>
            </a:br>
            <a:r>
              <a:rPr lang="en-IN" sz="1800" dirty="0"/>
              <a:t>    results = [p for p in </a:t>
            </a:r>
            <a:r>
              <a:rPr lang="en-IN" sz="1800" dirty="0" err="1"/>
              <a:t>read_patients</a:t>
            </a:r>
            <a:r>
              <a:rPr lang="en-IN" sz="1800" dirty="0"/>
              <a:t>() if </a:t>
            </a:r>
            <a:r>
              <a:rPr lang="en-IN" sz="1800" dirty="0" err="1"/>
              <a:t>keyword.lower</a:t>
            </a:r>
            <a:r>
              <a:rPr lang="en-IN" sz="1800" dirty="0"/>
              <a:t>() in p[0].lower()]  </a:t>
            </a:r>
            <a:r>
              <a:rPr lang="en-IN" sz="1800" dirty="0">
                <a:solidFill>
                  <a:srgbClr val="00B0F0"/>
                </a:solidFill>
              </a:rPr>
              <a:t># Filter records by name match</a:t>
            </a:r>
            <a:br>
              <a:rPr lang="en-IN" sz="1800" dirty="0"/>
            </a:br>
            <a:r>
              <a:rPr lang="en-IN" sz="1800" dirty="0"/>
              <a:t>    if results:</a:t>
            </a:r>
            <a:br>
              <a:rPr lang="en-IN" sz="1800" dirty="0"/>
            </a:br>
            <a:r>
              <a:rPr lang="en-IN" sz="1800" dirty="0">
                <a:solidFill>
                  <a:srgbClr val="00B0F0"/>
                </a:solidFill>
              </a:rPr>
              <a:t>        # Format multiple results</a:t>
            </a:r>
            <a:br>
              <a:rPr lang="en-IN" sz="1800" dirty="0"/>
            </a:br>
            <a:r>
              <a:rPr lang="en-IN" sz="1800" dirty="0"/>
              <a:t>        text = "\n\</a:t>
            </a:r>
            <a:r>
              <a:rPr lang="en-IN" sz="1800" dirty="0" err="1"/>
              <a:t>n".join</a:t>
            </a:r>
            <a:r>
              <a:rPr lang="en-IN" sz="1800" dirty="0"/>
              <a:t>([</a:t>
            </a:r>
            <a:br>
              <a:rPr lang="en-IN" sz="1800" dirty="0"/>
            </a:br>
            <a:r>
              <a:rPr lang="en-IN" sz="1800" dirty="0"/>
              <a:t>            </a:t>
            </a:r>
            <a:r>
              <a:rPr lang="en-IN" sz="1800" dirty="0" err="1"/>
              <a:t>f"Name</a:t>
            </a:r>
            <a:r>
              <a:rPr lang="en-IN" sz="1800" dirty="0"/>
              <a:t>: {p[0]}\</a:t>
            </a:r>
            <a:r>
              <a:rPr lang="en-IN" sz="1800" dirty="0" err="1"/>
              <a:t>nAge</a:t>
            </a:r>
            <a:r>
              <a:rPr lang="en-IN" sz="1800" dirty="0"/>
              <a:t>: {p[1]}\</a:t>
            </a:r>
            <a:r>
              <a:rPr lang="en-IN" sz="1800" dirty="0" err="1"/>
              <a:t>nPhone</a:t>
            </a:r>
            <a:r>
              <a:rPr lang="en-IN" sz="1800" dirty="0"/>
              <a:t>: {p[2]}\</a:t>
            </a:r>
            <a:r>
              <a:rPr lang="en-IN" sz="1800" dirty="0" err="1"/>
              <a:t>nGender</a:t>
            </a:r>
            <a:r>
              <a:rPr lang="en-IN" sz="1800" dirty="0"/>
              <a:t>: {p[3]}"</a:t>
            </a:r>
            <a:br>
              <a:rPr lang="en-IN" sz="1800" dirty="0"/>
            </a:br>
            <a:r>
              <a:rPr lang="en-IN" sz="1800" dirty="0"/>
              <a:t>            f"\</a:t>
            </a:r>
            <a:r>
              <a:rPr lang="en-IN" sz="1800" dirty="0" err="1"/>
              <a:t>nIllness</a:t>
            </a:r>
            <a:r>
              <a:rPr lang="en-IN" sz="1800" dirty="0"/>
              <a:t>: {p[4]}\</a:t>
            </a:r>
            <a:r>
              <a:rPr lang="en-IN" sz="1800" dirty="0" err="1"/>
              <a:t>nFee</a:t>
            </a:r>
            <a:r>
              <a:rPr lang="en-IN" sz="1800" dirty="0"/>
              <a:t>: ₹{p[5]}\</a:t>
            </a:r>
            <a:r>
              <a:rPr lang="en-IN" sz="1800" dirty="0" err="1"/>
              <a:t>nBill</a:t>
            </a:r>
            <a:r>
              <a:rPr lang="en-IN" sz="1800" dirty="0"/>
              <a:t> Paid: {p[6]}"</a:t>
            </a:r>
            <a:br>
              <a:rPr lang="en-IN" sz="1800" dirty="0"/>
            </a:br>
            <a:r>
              <a:rPr lang="en-IN" sz="1800" dirty="0"/>
              <a:t>            for p in results</a:t>
            </a:r>
            <a:br>
              <a:rPr lang="en-IN" sz="1800" dirty="0"/>
            </a:br>
            <a:r>
              <a:rPr lang="en-IN" sz="1800" dirty="0"/>
              <a:t>        ])</a:t>
            </a:r>
            <a:br>
              <a:rPr lang="en-IN" sz="1800" dirty="0"/>
            </a:br>
            <a:r>
              <a:rPr lang="en-IN" sz="1800" dirty="0"/>
              <a:t>        </a:t>
            </a:r>
            <a:r>
              <a:rPr lang="en-IN" sz="1800" dirty="0" err="1"/>
              <a:t>messagebox.showinfo</a:t>
            </a:r>
            <a:r>
              <a:rPr lang="en-IN" sz="1800" dirty="0"/>
              <a:t>("Search Results", text)</a:t>
            </a:r>
            <a:br>
              <a:rPr lang="en-IN" sz="1800" dirty="0"/>
            </a:br>
            <a:r>
              <a:rPr lang="en-IN" sz="1800" dirty="0"/>
              <a:t>    else:</a:t>
            </a:r>
            <a:br>
              <a:rPr lang="en-IN" sz="1800" dirty="0"/>
            </a:br>
            <a:r>
              <a:rPr lang="en-IN" sz="1800" dirty="0"/>
              <a:t>        </a:t>
            </a:r>
            <a:r>
              <a:rPr lang="en-IN" sz="1800" dirty="0" err="1"/>
              <a:t>messagebox.showinfo</a:t>
            </a:r>
            <a:r>
              <a:rPr lang="en-IN" sz="1800" dirty="0"/>
              <a:t>("Search Results", "No patient found.")</a:t>
            </a:r>
            <a:br>
              <a:rPr lang="en-IN" sz="1800" dirty="0"/>
            </a:br>
            <a:br>
              <a:rPr lang="en-IN" sz="1800" dirty="0"/>
            </a:br>
            <a:endParaRPr lang="en-IN" sz="1800" dirty="0"/>
          </a:p>
        </p:txBody>
      </p:sp>
    </p:spTree>
    <p:extLst>
      <p:ext uri="{BB962C8B-B14F-4D97-AF65-F5344CB8AC3E}">
        <p14:creationId xmlns:p14="http://schemas.microsoft.com/office/powerpoint/2010/main" val="1544508677"/>
      </p:ext>
    </p:extLst>
  </p:cSld>
  <p:clrMapOvr>
    <a:masterClrMapping/>
  </p:clrMapOvr>
  <mc:AlternateContent xmlns:mc="http://schemas.openxmlformats.org/markup-compatibility/2006">
    <mc:Choice xmlns:p14="http://schemas.microsoft.com/office/powerpoint/2010/main" Requires="p14">
      <p:transition spd="slow" p14:dur="2000" advTm="3931"/>
    </mc:Choice>
    <mc:Fallback>
      <p:transition spd="slow" advTm="393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6B06-2467-44F1-B60D-3BA431AFC6E6}"/>
              </a:ext>
            </a:extLst>
          </p:cNvPr>
          <p:cNvSpPr>
            <a:spLocks noGrp="1"/>
          </p:cNvSpPr>
          <p:nvPr>
            <p:ph type="title"/>
          </p:nvPr>
        </p:nvSpPr>
        <p:spPr>
          <a:xfrm>
            <a:off x="94268" y="782424"/>
            <a:ext cx="11642102" cy="6513922"/>
          </a:xfrm>
        </p:spPr>
        <p:txBody>
          <a:bodyPr>
            <a:normAutofit fontScale="90000"/>
          </a:bodyPr>
          <a:lstStyle/>
          <a:p>
            <a:r>
              <a:rPr lang="en-IN" sz="2200" dirty="0">
                <a:solidFill>
                  <a:srgbClr val="00B0F0"/>
                </a:solidFill>
              </a:rPr>
              <a:t># Deletes the selected patient from file</a:t>
            </a:r>
            <a:br>
              <a:rPr lang="en-IN" sz="2200" dirty="0"/>
            </a:br>
            <a:r>
              <a:rPr lang="en-IN" sz="2200" dirty="0"/>
              <a:t>def </a:t>
            </a:r>
            <a:r>
              <a:rPr lang="en-IN" sz="2200" dirty="0" err="1"/>
              <a:t>delete_patient</a:t>
            </a:r>
            <a:r>
              <a:rPr lang="en-IN" sz="2200" dirty="0"/>
              <a:t>():</a:t>
            </a:r>
            <a:br>
              <a:rPr lang="en-IN" sz="2200" dirty="0"/>
            </a:br>
            <a:r>
              <a:rPr lang="en-IN" sz="2200" dirty="0"/>
              <a:t>    index = </a:t>
            </a:r>
            <a:r>
              <a:rPr lang="en-IN" sz="2200" dirty="0" err="1"/>
              <a:t>patient_list.curselection</a:t>
            </a:r>
            <a:r>
              <a:rPr lang="en-IN" sz="2200" dirty="0"/>
              <a:t>()  </a:t>
            </a:r>
            <a:r>
              <a:rPr lang="en-IN" sz="2200" dirty="0">
                <a:solidFill>
                  <a:srgbClr val="00B0F0"/>
                </a:solidFill>
              </a:rPr>
              <a:t># Get selected index</a:t>
            </a:r>
            <a:br>
              <a:rPr lang="en-IN" sz="2200" dirty="0"/>
            </a:br>
            <a:r>
              <a:rPr lang="en-IN" sz="2200" dirty="0"/>
              <a:t>    if not index:</a:t>
            </a:r>
            <a:br>
              <a:rPr lang="en-IN" sz="2200" dirty="0"/>
            </a:br>
            <a:r>
              <a:rPr lang="en-IN" sz="2200" dirty="0"/>
              <a:t>        </a:t>
            </a:r>
            <a:r>
              <a:rPr lang="en-IN" sz="2200" dirty="0" err="1"/>
              <a:t>messagebox.showwarning</a:t>
            </a:r>
            <a:r>
              <a:rPr lang="en-IN" sz="2200" dirty="0"/>
              <a:t>("Select Patient", "Please select a patient to delete.")</a:t>
            </a:r>
            <a:br>
              <a:rPr lang="en-IN" sz="2200" dirty="0"/>
            </a:br>
            <a:r>
              <a:rPr lang="en-IN" sz="2200" dirty="0"/>
              <a:t>        return</a:t>
            </a:r>
            <a:br>
              <a:rPr lang="en-IN" sz="2200" dirty="0"/>
            </a:br>
            <a:r>
              <a:rPr lang="en-IN" sz="2200" dirty="0"/>
              <a:t>    patients = </a:t>
            </a:r>
            <a:r>
              <a:rPr lang="en-IN" sz="2200" dirty="0" err="1"/>
              <a:t>read_patients</a:t>
            </a:r>
            <a:r>
              <a:rPr lang="en-IN" sz="2200" dirty="0"/>
              <a:t>()</a:t>
            </a:r>
            <a:br>
              <a:rPr lang="en-IN" sz="2200" dirty="0"/>
            </a:br>
            <a:r>
              <a:rPr lang="en-IN" sz="2200" dirty="0"/>
              <a:t>    selected = patients[index[0]]</a:t>
            </a:r>
            <a:br>
              <a:rPr lang="en-IN" sz="2200" dirty="0"/>
            </a:br>
            <a:r>
              <a:rPr lang="en-IN" sz="2200" dirty="0"/>
              <a:t>    </a:t>
            </a:r>
            <a:r>
              <a:rPr lang="en-IN" sz="2200" dirty="0">
                <a:solidFill>
                  <a:srgbClr val="00B0F0"/>
                </a:solidFill>
              </a:rPr>
              <a:t># Confirm deletion</a:t>
            </a:r>
            <a:br>
              <a:rPr lang="en-IN" sz="2200" dirty="0"/>
            </a:br>
            <a:r>
              <a:rPr lang="en-IN" sz="2200" dirty="0"/>
              <a:t>    confirm = </a:t>
            </a:r>
            <a:r>
              <a:rPr lang="en-IN" sz="2200" dirty="0" err="1"/>
              <a:t>messagebox.askyesno</a:t>
            </a:r>
            <a:r>
              <a:rPr lang="en-IN" sz="2200" dirty="0"/>
              <a:t>("Confirm Delete", </a:t>
            </a:r>
            <a:r>
              <a:rPr lang="en-IN" sz="2200" dirty="0" err="1"/>
              <a:t>f"Are</a:t>
            </a:r>
            <a:r>
              <a:rPr lang="en-IN" sz="2200" dirty="0"/>
              <a:t> you sure you want to delete {selected[0]}?")</a:t>
            </a:r>
            <a:br>
              <a:rPr lang="en-IN" sz="2200" dirty="0"/>
            </a:br>
            <a:r>
              <a:rPr lang="en-IN" sz="2200" dirty="0"/>
              <a:t>    if confirm:</a:t>
            </a:r>
            <a:br>
              <a:rPr lang="en-IN" sz="2200" dirty="0"/>
            </a:br>
            <a:r>
              <a:rPr lang="en-IN" sz="2200" dirty="0"/>
              <a:t>        del patients[index[0]]  # Remove selected patient</a:t>
            </a:r>
            <a:br>
              <a:rPr lang="en-IN" sz="2200" dirty="0"/>
            </a:br>
            <a:r>
              <a:rPr lang="en-IN" sz="2200" dirty="0"/>
              <a:t>        </a:t>
            </a:r>
            <a:r>
              <a:rPr lang="en-IN" sz="2200" dirty="0" err="1"/>
              <a:t>write_patients</a:t>
            </a:r>
            <a:r>
              <a:rPr lang="en-IN" sz="2200" dirty="0"/>
              <a:t>(patients)  # Save updated list</a:t>
            </a:r>
            <a:br>
              <a:rPr lang="en-IN" sz="2200" dirty="0"/>
            </a:br>
            <a:r>
              <a:rPr lang="en-IN" sz="2200" dirty="0"/>
              <a:t>        </a:t>
            </a:r>
            <a:r>
              <a:rPr lang="en-IN" sz="2200" dirty="0" err="1"/>
              <a:t>messagebox.showinfo</a:t>
            </a:r>
            <a:r>
              <a:rPr lang="en-IN" sz="2200" dirty="0"/>
              <a:t>("Deleted", </a:t>
            </a:r>
            <a:r>
              <a:rPr lang="en-IN" sz="2200" dirty="0" err="1"/>
              <a:t>f"Deleted</a:t>
            </a:r>
            <a:r>
              <a:rPr lang="en-IN" sz="2200" dirty="0"/>
              <a:t> patient: {selected[0]}")</a:t>
            </a:r>
            <a:br>
              <a:rPr lang="en-IN" sz="2200" dirty="0"/>
            </a:br>
            <a:r>
              <a:rPr lang="en-IN" sz="2200" dirty="0"/>
              <a:t>        </a:t>
            </a:r>
            <a:r>
              <a:rPr lang="en-IN" sz="2200" dirty="0" err="1"/>
              <a:t>refresh_display</a:t>
            </a:r>
            <a:r>
              <a:rPr lang="en-IN" sz="2200" dirty="0"/>
              <a:t>()  # Refresh display</a:t>
            </a:r>
            <a:br>
              <a:rPr lang="en-IN" sz="2200" dirty="0"/>
            </a:br>
            <a:r>
              <a:rPr lang="en-IN" sz="2200" dirty="0">
                <a:solidFill>
                  <a:srgbClr val="00B0F0"/>
                </a:solidFill>
              </a:rPr>
              <a:t># Updates the selected patient by prompting for new details</a:t>
            </a:r>
            <a:br>
              <a:rPr lang="en-IN" sz="2200" dirty="0"/>
            </a:br>
            <a:r>
              <a:rPr lang="en-IN" sz="2200" dirty="0"/>
              <a:t>def </a:t>
            </a:r>
            <a:r>
              <a:rPr lang="en-IN" sz="2200" dirty="0" err="1"/>
              <a:t>update_patient</a:t>
            </a:r>
            <a:r>
              <a:rPr lang="en-IN" sz="2200" dirty="0"/>
              <a:t>():</a:t>
            </a:r>
            <a:br>
              <a:rPr lang="en-IN" sz="2200" dirty="0"/>
            </a:br>
            <a:r>
              <a:rPr lang="en-IN" sz="2200" dirty="0"/>
              <a:t>    index = </a:t>
            </a:r>
            <a:r>
              <a:rPr lang="en-IN" sz="2200" dirty="0" err="1"/>
              <a:t>patient_list.curselection</a:t>
            </a:r>
            <a:r>
              <a:rPr lang="en-IN" sz="2200" dirty="0"/>
              <a:t>()</a:t>
            </a:r>
            <a:br>
              <a:rPr lang="en-IN" sz="2200" dirty="0"/>
            </a:br>
            <a:r>
              <a:rPr lang="en-IN" sz="2200" dirty="0"/>
              <a:t>    if not index:</a:t>
            </a:r>
            <a:br>
              <a:rPr lang="en-IN" sz="2200" dirty="0"/>
            </a:br>
            <a:r>
              <a:rPr lang="en-IN" sz="2200" dirty="0"/>
              <a:t>        </a:t>
            </a:r>
            <a:r>
              <a:rPr lang="en-IN" sz="2200" dirty="0" err="1"/>
              <a:t>messagebox.showwarning</a:t>
            </a:r>
            <a:r>
              <a:rPr lang="en-IN" sz="2200" dirty="0"/>
              <a:t>("Select Patient", "Select a patient to update.")</a:t>
            </a:r>
            <a:br>
              <a:rPr lang="en-IN" sz="2200" dirty="0"/>
            </a:br>
            <a:r>
              <a:rPr lang="en-IN" sz="2200" dirty="0"/>
              <a:t>        return</a:t>
            </a:r>
            <a:br>
              <a:rPr lang="en-IN" sz="2200" dirty="0"/>
            </a:br>
            <a:r>
              <a:rPr lang="en-IN" sz="2200" dirty="0"/>
              <a:t>    patients = </a:t>
            </a:r>
            <a:r>
              <a:rPr lang="en-IN" sz="2200" dirty="0" err="1"/>
              <a:t>read_patients</a:t>
            </a:r>
            <a:r>
              <a:rPr lang="en-IN" sz="2200" dirty="0"/>
              <a:t>()</a:t>
            </a:r>
            <a:br>
              <a:rPr lang="en-IN" sz="2200" dirty="0"/>
            </a:br>
            <a:r>
              <a:rPr lang="en-IN" sz="2200" dirty="0"/>
              <a:t>    selected = patients[index[0]]</a:t>
            </a:r>
            <a:br>
              <a:rPr lang="en-IN" sz="2200" dirty="0"/>
            </a:br>
            <a:br>
              <a:rPr lang="en-IN" sz="1800" dirty="0"/>
            </a:br>
            <a:br>
              <a:rPr lang="en-IN" dirty="0"/>
            </a:br>
            <a:endParaRPr lang="en-IN" dirty="0"/>
          </a:p>
        </p:txBody>
      </p:sp>
    </p:spTree>
    <p:extLst>
      <p:ext uri="{BB962C8B-B14F-4D97-AF65-F5344CB8AC3E}">
        <p14:creationId xmlns:p14="http://schemas.microsoft.com/office/powerpoint/2010/main" val="2466860160"/>
      </p:ext>
    </p:extLst>
  </p:cSld>
  <p:clrMapOvr>
    <a:masterClrMapping/>
  </p:clrMapOvr>
  <mc:AlternateContent xmlns:mc="http://schemas.openxmlformats.org/markup-compatibility/2006">
    <mc:Choice xmlns:p14="http://schemas.microsoft.com/office/powerpoint/2010/main" Requires="p14">
      <p:transition spd="slow" p14:dur="2000" advTm="1215"/>
    </mc:Choice>
    <mc:Fallback>
      <p:transition spd="slow" advTm="121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62CF-EA71-4110-A013-B642D00255B8}"/>
              </a:ext>
            </a:extLst>
          </p:cNvPr>
          <p:cNvSpPr>
            <a:spLocks noGrp="1"/>
          </p:cNvSpPr>
          <p:nvPr>
            <p:ph type="title"/>
          </p:nvPr>
        </p:nvSpPr>
        <p:spPr>
          <a:xfrm>
            <a:off x="169683" y="440540"/>
            <a:ext cx="11146410" cy="6261918"/>
          </a:xfrm>
        </p:spPr>
        <p:txBody>
          <a:bodyPr>
            <a:noAutofit/>
          </a:bodyPr>
          <a:lstStyle/>
          <a:p>
            <a:r>
              <a:rPr lang="en-IN" sz="2000" dirty="0"/>
              <a:t> </a:t>
            </a:r>
            <a:r>
              <a:rPr lang="en-IN" sz="1800" dirty="0">
                <a:solidFill>
                  <a:srgbClr val="00B0F0"/>
                </a:solidFill>
              </a:rPr>
              <a:t># Prompt for updated values with existing ones pre-filled</a:t>
            </a:r>
            <a:br>
              <a:rPr lang="en-IN" sz="1800" dirty="0"/>
            </a:br>
            <a:r>
              <a:rPr lang="en-IN" sz="1800" dirty="0"/>
              <a:t>    </a:t>
            </a:r>
            <a:r>
              <a:rPr lang="en-IN" sz="1800" dirty="0" err="1"/>
              <a:t>new_name</a:t>
            </a:r>
            <a:r>
              <a:rPr lang="en-IN" sz="1800" dirty="0"/>
              <a:t> = </a:t>
            </a:r>
            <a:r>
              <a:rPr lang="en-IN" sz="1800" dirty="0" err="1"/>
              <a:t>simpledialog.askstring</a:t>
            </a:r>
            <a:r>
              <a:rPr lang="en-IN" sz="1800" dirty="0"/>
              <a:t>("Update", "New Name:", </a:t>
            </a:r>
            <a:r>
              <a:rPr lang="en-IN" sz="1800" dirty="0" err="1"/>
              <a:t>initialvalue</a:t>
            </a:r>
            <a:r>
              <a:rPr lang="en-IN" sz="1800" dirty="0"/>
              <a:t>=selected[0])</a:t>
            </a:r>
            <a:br>
              <a:rPr lang="en-IN" sz="1800" dirty="0"/>
            </a:br>
            <a:r>
              <a:rPr lang="en-IN" sz="1800" dirty="0"/>
              <a:t>    </a:t>
            </a:r>
            <a:r>
              <a:rPr lang="en-IN" sz="1800" dirty="0" err="1"/>
              <a:t>new_age</a:t>
            </a:r>
            <a:r>
              <a:rPr lang="en-IN" sz="1800" dirty="0"/>
              <a:t> = </a:t>
            </a:r>
            <a:r>
              <a:rPr lang="en-IN" sz="1800" dirty="0" err="1"/>
              <a:t>simpledialog.askstring</a:t>
            </a:r>
            <a:r>
              <a:rPr lang="en-IN" sz="1800" dirty="0"/>
              <a:t>("Update", "New Age:", </a:t>
            </a:r>
            <a:r>
              <a:rPr lang="en-IN" sz="1800" dirty="0" err="1"/>
              <a:t>initialvalue</a:t>
            </a:r>
            <a:r>
              <a:rPr lang="en-IN" sz="1800" dirty="0"/>
              <a:t>=selected[1])</a:t>
            </a:r>
            <a:br>
              <a:rPr lang="en-IN" sz="1800" dirty="0"/>
            </a:br>
            <a:r>
              <a:rPr lang="en-IN" sz="1800" dirty="0"/>
              <a:t>    </a:t>
            </a:r>
            <a:r>
              <a:rPr lang="en-IN" sz="1800" dirty="0" err="1"/>
              <a:t>new_phone</a:t>
            </a:r>
            <a:r>
              <a:rPr lang="en-IN" sz="1800" dirty="0"/>
              <a:t> = </a:t>
            </a:r>
            <a:r>
              <a:rPr lang="en-IN" sz="1800" dirty="0" err="1"/>
              <a:t>simpledialog.askstring</a:t>
            </a:r>
            <a:r>
              <a:rPr lang="en-IN" sz="1800" dirty="0"/>
              <a:t>("Update", "New Phone:", </a:t>
            </a:r>
            <a:r>
              <a:rPr lang="en-IN" sz="1800" dirty="0" err="1"/>
              <a:t>initialvalue</a:t>
            </a:r>
            <a:r>
              <a:rPr lang="en-IN" sz="1800" dirty="0"/>
              <a:t>=selected[2])</a:t>
            </a:r>
            <a:br>
              <a:rPr lang="en-IN" sz="1800" dirty="0"/>
            </a:br>
            <a:r>
              <a:rPr lang="en-IN" sz="1800" dirty="0"/>
              <a:t>    </a:t>
            </a:r>
            <a:r>
              <a:rPr lang="en-IN" sz="1800" dirty="0" err="1"/>
              <a:t>new_gender</a:t>
            </a:r>
            <a:r>
              <a:rPr lang="en-IN" sz="1800" dirty="0"/>
              <a:t> = </a:t>
            </a:r>
            <a:r>
              <a:rPr lang="en-IN" sz="1800" dirty="0" err="1"/>
              <a:t>simpledialog.askstring</a:t>
            </a:r>
            <a:r>
              <a:rPr lang="en-IN" sz="1800" dirty="0"/>
              <a:t>("Update", "Gender:", </a:t>
            </a:r>
            <a:r>
              <a:rPr lang="en-IN" sz="1800" dirty="0" err="1"/>
              <a:t>initialvalue</a:t>
            </a:r>
            <a:r>
              <a:rPr lang="en-IN" sz="1800" dirty="0"/>
              <a:t>=selected[3])</a:t>
            </a:r>
            <a:br>
              <a:rPr lang="en-IN" sz="1800" dirty="0"/>
            </a:br>
            <a:r>
              <a:rPr lang="en-IN" sz="1800" dirty="0"/>
              <a:t>    </a:t>
            </a:r>
            <a:r>
              <a:rPr lang="en-IN" sz="1800" dirty="0" err="1"/>
              <a:t>new_illness</a:t>
            </a:r>
            <a:r>
              <a:rPr lang="en-IN" sz="1800" dirty="0"/>
              <a:t> = </a:t>
            </a:r>
            <a:r>
              <a:rPr lang="en-IN" sz="1800" dirty="0" err="1"/>
              <a:t>simpledialog.askstring</a:t>
            </a:r>
            <a:r>
              <a:rPr lang="en-IN" sz="1800" dirty="0"/>
              <a:t>("Update", "Illness:", </a:t>
            </a:r>
            <a:r>
              <a:rPr lang="en-IN" sz="1800" dirty="0" err="1"/>
              <a:t>initialvalue</a:t>
            </a:r>
            <a:r>
              <a:rPr lang="en-IN" sz="1800" dirty="0"/>
              <a:t>=selected[4])</a:t>
            </a:r>
            <a:br>
              <a:rPr lang="en-IN" sz="1800" dirty="0"/>
            </a:br>
            <a:r>
              <a:rPr lang="en-IN" sz="1800" dirty="0"/>
              <a:t>    </a:t>
            </a:r>
            <a:r>
              <a:rPr lang="en-IN" sz="1800" dirty="0" err="1"/>
              <a:t>new_bill_paid</a:t>
            </a:r>
            <a:r>
              <a:rPr lang="en-IN" sz="1800" dirty="0"/>
              <a:t> = </a:t>
            </a:r>
            <a:r>
              <a:rPr lang="en-IN" sz="1800" dirty="0" err="1"/>
              <a:t>simpledialog.askstring</a:t>
            </a:r>
            <a:r>
              <a:rPr lang="en-IN" sz="1800" dirty="0"/>
              <a:t>("Update", "Bill Paid (Yes/No):", </a:t>
            </a:r>
            <a:r>
              <a:rPr lang="en-IN" sz="1800" dirty="0" err="1"/>
              <a:t>initialvalue</a:t>
            </a:r>
            <a:r>
              <a:rPr lang="en-IN" sz="1800" dirty="0"/>
              <a:t>=selected[6])</a:t>
            </a:r>
            <a:br>
              <a:rPr lang="en-US" sz="1800" dirty="0"/>
            </a:br>
            <a:r>
              <a:rPr lang="en-US" sz="1800" dirty="0">
                <a:solidFill>
                  <a:srgbClr val="00B0F0"/>
                </a:solidFill>
              </a:rPr>
              <a:t>    # Validate input</a:t>
            </a:r>
            <a:br>
              <a:rPr lang="en-US" sz="1800" dirty="0"/>
            </a:br>
            <a:r>
              <a:rPr lang="en-US" sz="1800" dirty="0"/>
              <a:t>    if not </a:t>
            </a:r>
            <a:r>
              <a:rPr lang="en-US" sz="1800" dirty="0" err="1"/>
              <a:t>new_name</a:t>
            </a:r>
            <a:r>
              <a:rPr lang="en-US" sz="1800" dirty="0"/>
              <a:t> or not </a:t>
            </a:r>
            <a:r>
              <a:rPr lang="en-US" sz="1800" dirty="0" err="1"/>
              <a:t>new_age</a:t>
            </a:r>
            <a:r>
              <a:rPr lang="en-US" sz="1800" dirty="0"/>
              <a:t> or not </a:t>
            </a:r>
            <a:r>
              <a:rPr lang="en-US" sz="1800" dirty="0" err="1"/>
              <a:t>new_phone</a:t>
            </a:r>
            <a:r>
              <a:rPr lang="en-US" sz="1800" dirty="0"/>
              <a:t> or not </a:t>
            </a:r>
            <a:r>
              <a:rPr lang="en-US" sz="1800" dirty="0" err="1"/>
              <a:t>new_gender</a:t>
            </a:r>
            <a:r>
              <a:rPr lang="en-US" sz="1800" dirty="0"/>
              <a:t> or not </a:t>
            </a:r>
            <a:r>
              <a:rPr lang="en-US" sz="1800" dirty="0" err="1"/>
              <a:t>new_illness</a:t>
            </a:r>
            <a:r>
              <a:rPr lang="en-US" sz="1800" dirty="0"/>
              <a:t> or not </a:t>
            </a:r>
            <a:r>
              <a:rPr lang="en-US" sz="1800" dirty="0" err="1"/>
              <a:t>new_bill_paid</a:t>
            </a:r>
            <a:r>
              <a:rPr lang="en-US" sz="1800" dirty="0"/>
              <a:t>:</a:t>
            </a:r>
            <a:br>
              <a:rPr lang="en-US" sz="1800" dirty="0"/>
            </a:br>
            <a:r>
              <a:rPr lang="en-US" sz="1800" dirty="0"/>
              <a:t>        </a:t>
            </a:r>
            <a:r>
              <a:rPr lang="en-US" sz="1800" dirty="0" err="1"/>
              <a:t>messagebox.showerror</a:t>
            </a:r>
            <a:r>
              <a:rPr lang="en-US" sz="1800" dirty="0"/>
              <a:t>("Invalid Input", "All fields must be filled.")</a:t>
            </a:r>
            <a:br>
              <a:rPr lang="en-US" sz="1800" dirty="0"/>
            </a:br>
            <a:r>
              <a:rPr lang="en-US" sz="1800" dirty="0"/>
              <a:t>        return</a:t>
            </a:r>
            <a:br>
              <a:rPr lang="en-US" sz="1800" dirty="0"/>
            </a:br>
            <a:r>
              <a:rPr lang="en-US" sz="1800" dirty="0">
                <a:solidFill>
                  <a:srgbClr val="00B0F0"/>
                </a:solidFill>
              </a:rPr>
              <a:t>    # Update record</a:t>
            </a:r>
            <a:br>
              <a:rPr lang="en-US" sz="1800" dirty="0">
                <a:solidFill>
                  <a:srgbClr val="00B0F0"/>
                </a:solidFill>
              </a:rPr>
            </a:br>
            <a:r>
              <a:rPr lang="en-US" sz="1800" dirty="0"/>
              <a:t>    patients[index[0]] = [</a:t>
            </a:r>
            <a:r>
              <a:rPr lang="en-US" sz="1800" dirty="0" err="1"/>
              <a:t>new_name</a:t>
            </a:r>
            <a:r>
              <a:rPr lang="en-US" sz="1800" dirty="0"/>
              <a:t>, </a:t>
            </a:r>
            <a:r>
              <a:rPr lang="en-US" sz="1800" dirty="0" err="1"/>
              <a:t>new_age</a:t>
            </a:r>
            <a:r>
              <a:rPr lang="en-US" sz="1800" dirty="0"/>
              <a:t>, </a:t>
            </a:r>
            <a:r>
              <a:rPr lang="en-US" sz="1800" dirty="0" err="1"/>
              <a:t>new_phone</a:t>
            </a:r>
            <a:r>
              <a:rPr lang="en-US" sz="1800" dirty="0"/>
              <a:t>, </a:t>
            </a:r>
            <a:r>
              <a:rPr lang="en-US" sz="1800" dirty="0" err="1"/>
              <a:t>new_gender</a:t>
            </a:r>
            <a:r>
              <a:rPr lang="en-US" sz="1800" dirty="0"/>
              <a:t>, </a:t>
            </a:r>
            <a:r>
              <a:rPr lang="en-US" sz="1800" dirty="0" err="1"/>
              <a:t>new_illness</a:t>
            </a:r>
            <a:r>
              <a:rPr lang="en-US" sz="1800" dirty="0"/>
              <a:t>, "300", </a:t>
            </a:r>
            <a:r>
              <a:rPr lang="en-US" sz="1800" dirty="0" err="1"/>
              <a:t>new_bill_paid</a:t>
            </a:r>
            <a:r>
              <a:rPr lang="en-US" sz="1800" dirty="0"/>
              <a:t>]</a:t>
            </a:r>
            <a:br>
              <a:rPr lang="en-US" sz="1800" dirty="0"/>
            </a:br>
            <a:r>
              <a:rPr lang="en-US" sz="1800" dirty="0"/>
              <a:t>    </a:t>
            </a:r>
            <a:r>
              <a:rPr lang="en-US" sz="1800" dirty="0" err="1"/>
              <a:t>write_patients</a:t>
            </a:r>
            <a:r>
              <a:rPr lang="en-US" sz="1800" dirty="0"/>
              <a:t>(patients)</a:t>
            </a:r>
            <a:br>
              <a:rPr lang="en-US" sz="1800" dirty="0"/>
            </a:br>
            <a:r>
              <a:rPr lang="en-US" sz="1800" dirty="0"/>
              <a:t>    </a:t>
            </a:r>
            <a:r>
              <a:rPr lang="en-US" sz="1800" dirty="0" err="1"/>
              <a:t>messagebox.showinfo</a:t>
            </a:r>
            <a:r>
              <a:rPr lang="en-US" sz="1800" dirty="0"/>
              <a:t>("Updated", "Patient record updated successfully.")</a:t>
            </a:r>
            <a:br>
              <a:rPr lang="en-US" sz="1800" dirty="0"/>
            </a:br>
            <a:r>
              <a:rPr lang="en-US" sz="1800" dirty="0"/>
              <a:t>    </a:t>
            </a:r>
            <a:r>
              <a:rPr lang="en-US" sz="1800" dirty="0" err="1"/>
              <a:t>refresh_display</a:t>
            </a:r>
            <a:r>
              <a:rPr lang="en-US" sz="1800" dirty="0"/>
              <a:t>()</a:t>
            </a:r>
            <a:br>
              <a:rPr lang="en-US" sz="1800" dirty="0"/>
            </a:br>
            <a:r>
              <a:rPr lang="en-US" sz="1800" dirty="0">
                <a:solidFill>
                  <a:srgbClr val="00B0F0"/>
                </a:solidFill>
              </a:rPr>
              <a:t># Clears the input form fields</a:t>
            </a:r>
            <a:br>
              <a:rPr lang="en-US" sz="1800" dirty="0"/>
            </a:br>
            <a:r>
              <a:rPr lang="en-US" sz="1800" dirty="0"/>
              <a:t>def </a:t>
            </a:r>
            <a:r>
              <a:rPr lang="en-US" sz="1800" dirty="0" err="1"/>
              <a:t>clear_fields</a:t>
            </a:r>
            <a:r>
              <a:rPr lang="en-US" sz="1800" dirty="0"/>
              <a:t>():</a:t>
            </a:r>
            <a:br>
              <a:rPr lang="en-US" sz="1800" dirty="0"/>
            </a:br>
            <a:r>
              <a:rPr lang="en-US" sz="1800" dirty="0"/>
              <a:t>    </a:t>
            </a:r>
            <a:r>
              <a:rPr lang="en-US" sz="1800" dirty="0" err="1"/>
              <a:t>name_entry.delete</a:t>
            </a:r>
            <a:r>
              <a:rPr lang="en-US" sz="1800" dirty="0"/>
              <a:t>(0, </a:t>
            </a:r>
            <a:r>
              <a:rPr lang="en-US" sz="1800" dirty="0" err="1"/>
              <a:t>tk.END</a:t>
            </a:r>
            <a:r>
              <a:rPr lang="en-US" sz="1800" dirty="0"/>
              <a:t>)</a:t>
            </a:r>
            <a:br>
              <a:rPr lang="en-US" sz="1800" dirty="0"/>
            </a:br>
            <a:r>
              <a:rPr lang="en-US" sz="1800" dirty="0"/>
              <a:t>    </a:t>
            </a:r>
            <a:r>
              <a:rPr lang="en-US" sz="1800" dirty="0" err="1"/>
              <a:t>age_entry.delete</a:t>
            </a:r>
            <a:r>
              <a:rPr lang="en-US" sz="1800" dirty="0"/>
              <a:t>(0, </a:t>
            </a:r>
            <a:r>
              <a:rPr lang="en-US" sz="1800" dirty="0" err="1"/>
              <a:t>tk.END</a:t>
            </a:r>
            <a:r>
              <a:rPr lang="en-US" sz="1800" dirty="0"/>
              <a:t>)</a:t>
            </a:r>
            <a:br>
              <a:rPr lang="en-US" sz="1800" dirty="0"/>
            </a:br>
            <a:r>
              <a:rPr lang="en-US" sz="1800" dirty="0"/>
              <a:t>    </a:t>
            </a:r>
            <a:r>
              <a:rPr lang="en-US" sz="1800" dirty="0" err="1"/>
              <a:t>phone_entry.delete</a:t>
            </a:r>
            <a:r>
              <a:rPr lang="en-US" sz="1800" dirty="0"/>
              <a:t>(0, </a:t>
            </a:r>
            <a:r>
              <a:rPr lang="en-US" sz="1800" dirty="0" err="1"/>
              <a:t>tk.END</a:t>
            </a:r>
            <a:r>
              <a:rPr lang="en-US" sz="1800" dirty="0"/>
              <a:t>)</a:t>
            </a:r>
            <a:br>
              <a:rPr lang="en-US" sz="1800" dirty="0"/>
            </a:br>
            <a:r>
              <a:rPr lang="en-US" sz="1800" dirty="0"/>
              <a:t>    </a:t>
            </a:r>
            <a:r>
              <a:rPr lang="en-US" sz="1800" dirty="0" err="1"/>
              <a:t>illness_entry.delete</a:t>
            </a:r>
            <a:r>
              <a:rPr lang="en-US" sz="1800" dirty="0"/>
              <a:t>(0, </a:t>
            </a:r>
            <a:r>
              <a:rPr lang="en-US" sz="1800" dirty="0" err="1"/>
              <a:t>tk.END</a:t>
            </a:r>
            <a:r>
              <a:rPr lang="en-US" sz="1800" dirty="0"/>
              <a:t>)</a:t>
            </a:r>
            <a:br>
              <a:rPr lang="en-US" sz="1800" dirty="0"/>
            </a:br>
            <a:r>
              <a:rPr lang="en-US" sz="1800" dirty="0"/>
              <a:t>    </a:t>
            </a:r>
            <a:r>
              <a:rPr lang="en-US" sz="1800" dirty="0" err="1"/>
              <a:t>gender_var.set</a:t>
            </a:r>
            <a:r>
              <a:rPr lang="en-US" sz="1800" dirty="0"/>
              <a:t>("Male")  </a:t>
            </a:r>
            <a:r>
              <a:rPr lang="en-US" sz="1800" dirty="0">
                <a:solidFill>
                  <a:srgbClr val="00B0F0"/>
                </a:solidFill>
              </a:rPr>
              <a:t># Reset to default</a:t>
            </a:r>
            <a:br>
              <a:rPr lang="en-US" sz="1800" dirty="0"/>
            </a:br>
            <a:r>
              <a:rPr lang="en-US" sz="1800" dirty="0"/>
              <a:t>    </a:t>
            </a:r>
            <a:r>
              <a:rPr lang="en-US" sz="1800" dirty="0" err="1"/>
              <a:t>bill_paid_var.set</a:t>
            </a:r>
            <a:r>
              <a:rPr lang="en-US" sz="1800" dirty="0"/>
              <a:t>("No")  </a:t>
            </a:r>
            <a:r>
              <a:rPr lang="en-US" sz="1800" dirty="0">
                <a:solidFill>
                  <a:srgbClr val="00B0F0"/>
                </a:solidFill>
              </a:rPr>
              <a:t># Reset to default</a:t>
            </a:r>
            <a:br>
              <a:rPr lang="en-US" sz="1800" dirty="0"/>
            </a:br>
            <a:endParaRPr lang="en-IN" sz="1800" dirty="0"/>
          </a:p>
        </p:txBody>
      </p:sp>
    </p:spTree>
    <p:extLst>
      <p:ext uri="{BB962C8B-B14F-4D97-AF65-F5344CB8AC3E}">
        <p14:creationId xmlns:p14="http://schemas.microsoft.com/office/powerpoint/2010/main" val="1549409364"/>
      </p:ext>
    </p:extLst>
  </p:cSld>
  <p:clrMapOvr>
    <a:masterClrMapping/>
  </p:clrMapOvr>
  <mc:AlternateContent xmlns:mc="http://schemas.openxmlformats.org/markup-compatibility/2006">
    <mc:Choice xmlns:p14="http://schemas.microsoft.com/office/powerpoint/2010/main" Requires="p14">
      <p:transition spd="slow" p14:dur="2000" advTm="1014"/>
    </mc:Choice>
    <mc:Fallback>
      <p:transition spd="slow" advTm="101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8A506-E78D-4510-9ECA-18EFBE504A75}"/>
              </a:ext>
            </a:extLst>
          </p:cNvPr>
          <p:cNvSpPr>
            <a:spLocks noGrp="1"/>
          </p:cNvSpPr>
          <p:nvPr>
            <p:ph type="title"/>
          </p:nvPr>
        </p:nvSpPr>
        <p:spPr>
          <a:xfrm>
            <a:off x="160256" y="227340"/>
            <a:ext cx="11005008" cy="6403320"/>
          </a:xfrm>
        </p:spPr>
        <p:txBody>
          <a:bodyPr>
            <a:normAutofit fontScale="90000"/>
          </a:bodyPr>
          <a:lstStyle/>
          <a:p>
            <a:br>
              <a:rPr lang="en-IN" sz="1600" dirty="0"/>
            </a:br>
            <a:r>
              <a:rPr lang="en-IN" sz="2000" dirty="0">
                <a:solidFill>
                  <a:srgbClr val="FF0000"/>
                </a:solidFill>
              </a:rPr>
              <a:t># ----------------- GUI SETUP -----------------</a:t>
            </a:r>
            <a:br>
              <a:rPr lang="en-IN" sz="2000" dirty="0"/>
            </a:br>
            <a:r>
              <a:rPr lang="en-IN" sz="2000" dirty="0"/>
              <a:t>root = </a:t>
            </a:r>
            <a:r>
              <a:rPr lang="en-IN" sz="2000" dirty="0" err="1"/>
              <a:t>tk.Tk</a:t>
            </a:r>
            <a:r>
              <a:rPr lang="en-IN" sz="2000" dirty="0"/>
              <a:t>()  </a:t>
            </a:r>
            <a:r>
              <a:rPr lang="en-IN" sz="2000" dirty="0">
                <a:solidFill>
                  <a:srgbClr val="00B0F0"/>
                </a:solidFill>
              </a:rPr>
              <a:t># Create the main window</a:t>
            </a:r>
            <a:br>
              <a:rPr lang="en-IN" sz="2000" dirty="0"/>
            </a:br>
            <a:r>
              <a:rPr lang="en-IN" sz="2000" dirty="0" err="1"/>
              <a:t>root.title</a:t>
            </a:r>
            <a:r>
              <a:rPr lang="en-IN" sz="2000" dirty="0"/>
              <a:t>("Hospital Management System")  </a:t>
            </a:r>
            <a:r>
              <a:rPr lang="en-IN" sz="2000" dirty="0">
                <a:solidFill>
                  <a:srgbClr val="00B0F0"/>
                </a:solidFill>
              </a:rPr>
              <a:t># Title of the window</a:t>
            </a:r>
            <a:br>
              <a:rPr lang="en-IN" sz="2000" dirty="0"/>
            </a:br>
            <a:r>
              <a:rPr lang="en-IN" sz="2000" dirty="0" err="1"/>
              <a:t>root.geometry</a:t>
            </a:r>
            <a:r>
              <a:rPr lang="en-IN" sz="2000" dirty="0"/>
              <a:t>("500x720")  </a:t>
            </a:r>
            <a:r>
              <a:rPr lang="en-IN" sz="2000" dirty="0">
                <a:solidFill>
                  <a:srgbClr val="00B0F0"/>
                </a:solidFill>
              </a:rPr>
              <a:t># Size of the window</a:t>
            </a:r>
            <a:br>
              <a:rPr lang="en-IN" sz="2000" dirty="0"/>
            </a:br>
            <a:r>
              <a:rPr lang="en-IN" sz="2000" dirty="0" err="1"/>
              <a:t>root.config</a:t>
            </a:r>
            <a:r>
              <a:rPr lang="en-IN" sz="2000" dirty="0"/>
              <a:t>(</a:t>
            </a:r>
            <a:r>
              <a:rPr lang="en-IN" sz="2000" dirty="0" err="1"/>
              <a:t>bg</a:t>
            </a:r>
            <a:r>
              <a:rPr lang="en-IN" sz="2000" dirty="0"/>
              <a:t>="#e6f2ff")  </a:t>
            </a:r>
            <a:r>
              <a:rPr lang="en-IN" sz="2000" dirty="0">
                <a:solidFill>
                  <a:srgbClr val="00B0F0"/>
                </a:solidFill>
              </a:rPr>
              <a:t># Set background </a:t>
            </a:r>
            <a:r>
              <a:rPr lang="en-IN" sz="2000" dirty="0" err="1">
                <a:solidFill>
                  <a:srgbClr val="00B0F0"/>
                </a:solidFill>
              </a:rPr>
              <a:t>color</a:t>
            </a:r>
            <a:r>
              <a:rPr lang="en-IN" sz="2000" dirty="0">
                <a:solidFill>
                  <a:srgbClr val="00B0F0"/>
                </a:solidFill>
              </a:rPr>
              <a:t> to light blue</a:t>
            </a:r>
            <a:br>
              <a:rPr lang="en-IN" sz="2000" dirty="0"/>
            </a:br>
            <a:r>
              <a:rPr lang="en-IN" sz="2000" dirty="0">
                <a:solidFill>
                  <a:srgbClr val="00B0F0"/>
                </a:solidFill>
              </a:rPr>
              <a:t># Font and </a:t>
            </a:r>
            <a:r>
              <a:rPr lang="en-IN" sz="2000" dirty="0" err="1">
                <a:solidFill>
                  <a:srgbClr val="00B0F0"/>
                </a:solidFill>
              </a:rPr>
              <a:t>color</a:t>
            </a:r>
            <a:r>
              <a:rPr lang="en-IN" sz="2000" dirty="0">
                <a:solidFill>
                  <a:srgbClr val="00B0F0"/>
                </a:solidFill>
              </a:rPr>
              <a:t> styling</a:t>
            </a:r>
            <a:br>
              <a:rPr lang="en-IN" sz="2000" dirty="0"/>
            </a:br>
            <a:r>
              <a:rPr lang="en-IN" sz="2000" dirty="0" err="1"/>
              <a:t>label_font</a:t>
            </a:r>
            <a:r>
              <a:rPr lang="en-IN" sz="2000" dirty="0"/>
              <a:t> = ("Arial", 12)</a:t>
            </a:r>
            <a:br>
              <a:rPr lang="en-IN" sz="2000" dirty="0"/>
            </a:br>
            <a:r>
              <a:rPr lang="en-IN" sz="2000" dirty="0" err="1"/>
              <a:t>entry_bg</a:t>
            </a:r>
            <a:r>
              <a:rPr lang="en-IN" sz="2000" dirty="0"/>
              <a:t> = "#</a:t>
            </a:r>
            <a:r>
              <a:rPr lang="en-IN" sz="2000" dirty="0" err="1"/>
              <a:t>ffffff</a:t>
            </a:r>
            <a:r>
              <a:rPr lang="en-IN" sz="2000" dirty="0"/>
              <a:t>"  </a:t>
            </a:r>
            <a:r>
              <a:rPr lang="en-IN" sz="2000" dirty="0">
                <a:solidFill>
                  <a:srgbClr val="00B0F0"/>
                </a:solidFill>
              </a:rPr>
              <a:t># White entry boxes</a:t>
            </a:r>
            <a:br>
              <a:rPr lang="en-IN" sz="2000" dirty="0">
                <a:solidFill>
                  <a:srgbClr val="00B0F0"/>
                </a:solidFill>
              </a:rPr>
            </a:br>
            <a:r>
              <a:rPr lang="en-IN" sz="2000" dirty="0" err="1"/>
              <a:t>button_bg</a:t>
            </a:r>
            <a:r>
              <a:rPr lang="en-IN" sz="2000" dirty="0"/>
              <a:t> = "#4CAF50"  </a:t>
            </a:r>
            <a:r>
              <a:rPr lang="en-IN" sz="2000" dirty="0">
                <a:solidFill>
                  <a:srgbClr val="00B0F0"/>
                </a:solidFill>
              </a:rPr>
              <a:t># Green button background</a:t>
            </a:r>
            <a:br>
              <a:rPr lang="en-IN" sz="2000" dirty="0"/>
            </a:br>
            <a:r>
              <a:rPr lang="en-IN" sz="2000" dirty="0" err="1"/>
              <a:t>button_fg</a:t>
            </a:r>
            <a:r>
              <a:rPr lang="en-IN" sz="2000" dirty="0"/>
              <a:t> = "white"  </a:t>
            </a:r>
            <a:r>
              <a:rPr lang="en-IN" sz="2000" dirty="0">
                <a:solidFill>
                  <a:srgbClr val="00B0F0"/>
                </a:solidFill>
              </a:rPr>
              <a:t># White text on buttons</a:t>
            </a:r>
            <a:br>
              <a:rPr lang="en-IN" sz="2000" dirty="0"/>
            </a:br>
            <a:r>
              <a:rPr lang="en-IN" sz="2000" dirty="0">
                <a:solidFill>
                  <a:srgbClr val="00B0F0"/>
                </a:solidFill>
              </a:rPr>
              <a:t># Main heading</a:t>
            </a:r>
            <a:br>
              <a:rPr lang="en-IN" sz="2000" dirty="0"/>
            </a:br>
            <a:r>
              <a:rPr lang="en-IN" sz="2000" dirty="0" err="1"/>
              <a:t>tk.Label</a:t>
            </a:r>
            <a:r>
              <a:rPr lang="en-IN" sz="2000" dirty="0"/>
              <a:t>(root, text="Patient Details", font=("Arial", 16, "bold"), </a:t>
            </a:r>
            <a:r>
              <a:rPr lang="en-IN" sz="2000" dirty="0" err="1"/>
              <a:t>bg</a:t>
            </a:r>
            <a:r>
              <a:rPr lang="en-IN" sz="2000" dirty="0"/>
              <a:t>="#e6f2ff", </a:t>
            </a:r>
            <a:r>
              <a:rPr lang="en-IN" sz="2000" dirty="0" err="1"/>
              <a:t>fg</a:t>
            </a:r>
            <a:r>
              <a:rPr lang="en-IN" sz="2000" dirty="0"/>
              <a:t>="#333").pack(</a:t>
            </a:r>
            <a:r>
              <a:rPr lang="en-IN" sz="2000" dirty="0" err="1"/>
              <a:t>pady</a:t>
            </a:r>
            <a:r>
              <a:rPr lang="en-IN" sz="2000" dirty="0"/>
              <a:t>=10)</a:t>
            </a:r>
            <a:br>
              <a:rPr lang="en-IN" sz="2000" dirty="0"/>
            </a:br>
            <a:r>
              <a:rPr lang="en-IN" sz="2000" dirty="0">
                <a:solidFill>
                  <a:srgbClr val="00B0F0"/>
                </a:solidFill>
              </a:rPr>
              <a:t># Form Fields</a:t>
            </a:r>
            <a:br>
              <a:rPr lang="en-IN" sz="2000" dirty="0"/>
            </a:br>
            <a:r>
              <a:rPr lang="en-IN" sz="2000" dirty="0"/>
              <a:t>for label in ["Name", "Age", "Phone Number", "Illness"]:</a:t>
            </a:r>
            <a:br>
              <a:rPr lang="en-IN" sz="2000" dirty="0"/>
            </a:br>
            <a:r>
              <a:rPr lang="en-IN" sz="2000" dirty="0"/>
              <a:t>    </a:t>
            </a:r>
            <a:r>
              <a:rPr lang="en-IN" sz="2000" dirty="0" err="1"/>
              <a:t>tk.Label</a:t>
            </a:r>
            <a:r>
              <a:rPr lang="en-IN" sz="2000" dirty="0"/>
              <a:t>(root, text=label, font=</a:t>
            </a:r>
            <a:r>
              <a:rPr lang="en-IN" sz="2000" dirty="0" err="1"/>
              <a:t>label_font</a:t>
            </a:r>
            <a:r>
              <a:rPr lang="en-IN" sz="2000" dirty="0"/>
              <a:t>, </a:t>
            </a:r>
            <a:r>
              <a:rPr lang="en-IN" sz="2000" dirty="0" err="1"/>
              <a:t>bg</a:t>
            </a:r>
            <a:r>
              <a:rPr lang="en-IN" sz="2000" dirty="0"/>
              <a:t>="#e6f2ff").pack()  </a:t>
            </a:r>
            <a:r>
              <a:rPr lang="en-IN" sz="2000" dirty="0">
                <a:solidFill>
                  <a:srgbClr val="00B0F0"/>
                </a:solidFill>
              </a:rPr>
              <a:t># Create label</a:t>
            </a:r>
            <a:br>
              <a:rPr lang="en-IN" sz="2000" dirty="0"/>
            </a:br>
            <a:r>
              <a:rPr lang="en-IN" sz="2000" dirty="0"/>
              <a:t>    entry = </a:t>
            </a:r>
            <a:r>
              <a:rPr lang="en-IN" sz="2000" dirty="0" err="1"/>
              <a:t>tk.Entry</a:t>
            </a:r>
            <a:r>
              <a:rPr lang="en-IN" sz="2000" dirty="0"/>
              <a:t>(root, </a:t>
            </a:r>
            <a:r>
              <a:rPr lang="en-IN" sz="2000" dirty="0" err="1"/>
              <a:t>bg</a:t>
            </a:r>
            <a:r>
              <a:rPr lang="en-IN" sz="2000" dirty="0"/>
              <a:t>=</a:t>
            </a:r>
            <a:r>
              <a:rPr lang="en-IN" sz="2000" dirty="0" err="1"/>
              <a:t>entry_bg</a:t>
            </a:r>
            <a:r>
              <a:rPr lang="en-IN" sz="2000" dirty="0"/>
              <a:t>)  # Create entry input field</a:t>
            </a:r>
            <a:br>
              <a:rPr lang="en-IN" sz="2000" dirty="0"/>
            </a:br>
            <a:r>
              <a:rPr lang="en-IN" sz="2000" dirty="0"/>
              <a:t>    </a:t>
            </a:r>
            <a:r>
              <a:rPr lang="en-IN" sz="2000" dirty="0" err="1"/>
              <a:t>entry.pack</a:t>
            </a:r>
            <a:r>
              <a:rPr lang="en-IN" sz="2000" dirty="0"/>
              <a:t>()</a:t>
            </a:r>
            <a:br>
              <a:rPr lang="en-IN" sz="2000" dirty="0"/>
            </a:br>
            <a:r>
              <a:rPr lang="en-IN" sz="2000" dirty="0">
                <a:solidFill>
                  <a:srgbClr val="00B0F0"/>
                </a:solidFill>
              </a:rPr>
              <a:t>    # Save entry widgets to global variables</a:t>
            </a:r>
            <a:br>
              <a:rPr lang="en-IN" sz="2000" dirty="0"/>
            </a:br>
            <a:r>
              <a:rPr lang="en-IN" sz="2000" dirty="0"/>
              <a:t>    if label == "Name":</a:t>
            </a:r>
            <a:br>
              <a:rPr lang="en-IN" sz="2000" dirty="0"/>
            </a:br>
            <a:r>
              <a:rPr lang="en-IN" sz="2000" dirty="0"/>
              <a:t>        </a:t>
            </a:r>
            <a:r>
              <a:rPr lang="en-IN" sz="2000" dirty="0" err="1"/>
              <a:t>name_entry</a:t>
            </a:r>
            <a:r>
              <a:rPr lang="en-IN" sz="2000" dirty="0"/>
              <a:t> = entry</a:t>
            </a:r>
            <a:br>
              <a:rPr lang="en-IN" sz="2000" dirty="0"/>
            </a:br>
            <a:r>
              <a:rPr lang="en-IN" sz="2000" dirty="0"/>
              <a:t>    </a:t>
            </a:r>
            <a:r>
              <a:rPr lang="en-IN" sz="2000" dirty="0" err="1"/>
              <a:t>elif</a:t>
            </a:r>
            <a:r>
              <a:rPr lang="en-IN" sz="2000" dirty="0"/>
              <a:t> label == "Age":</a:t>
            </a:r>
            <a:br>
              <a:rPr lang="en-IN" sz="2000" dirty="0"/>
            </a:br>
            <a:r>
              <a:rPr lang="en-IN" sz="2000" dirty="0"/>
              <a:t>        </a:t>
            </a:r>
            <a:r>
              <a:rPr lang="en-IN" sz="2000" dirty="0" err="1"/>
              <a:t>age_entry</a:t>
            </a:r>
            <a:r>
              <a:rPr lang="en-IN" sz="2000" dirty="0"/>
              <a:t> = entry</a:t>
            </a:r>
            <a:br>
              <a:rPr lang="en-IN" sz="2000" dirty="0"/>
            </a:br>
            <a:r>
              <a:rPr lang="en-IN" sz="2000" dirty="0"/>
              <a:t>    </a:t>
            </a:r>
            <a:r>
              <a:rPr lang="en-IN" sz="2000" dirty="0" err="1"/>
              <a:t>elif</a:t>
            </a:r>
            <a:r>
              <a:rPr lang="en-IN" sz="2000" dirty="0"/>
              <a:t> label == "Phone Number":</a:t>
            </a:r>
            <a:br>
              <a:rPr lang="en-IN" sz="2000" dirty="0"/>
            </a:br>
            <a:r>
              <a:rPr lang="en-IN" sz="2000" dirty="0"/>
              <a:t>        </a:t>
            </a:r>
            <a:r>
              <a:rPr lang="en-IN" sz="2000" dirty="0" err="1"/>
              <a:t>phone_entry</a:t>
            </a:r>
            <a:r>
              <a:rPr lang="en-IN" sz="2000" dirty="0"/>
              <a:t> = entry</a:t>
            </a:r>
            <a:br>
              <a:rPr lang="en-IN" sz="2000" dirty="0"/>
            </a:br>
            <a:r>
              <a:rPr lang="en-IN" sz="2000" dirty="0"/>
              <a:t>    </a:t>
            </a:r>
            <a:r>
              <a:rPr lang="en-IN" sz="2000" dirty="0" err="1"/>
              <a:t>elif</a:t>
            </a:r>
            <a:r>
              <a:rPr lang="en-IN" sz="2000" dirty="0"/>
              <a:t> label == "Illness":</a:t>
            </a:r>
            <a:br>
              <a:rPr lang="en-IN" sz="2000" dirty="0"/>
            </a:br>
            <a:r>
              <a:rPr lang="en-IN" sz="2000" dirty="0"/>
              <a:t>        </a:t>
            </a:r>
            <a:r>
              <a:rPr lang="en-IN" sz="2000" dirty="0" err="1"/>
              <a:t>illness_entry</a:t>
            </a:r>
            <a:r>
              <a:rPr lang="en-IN" sz="2000" dirty="0"/>
              <a:t> = entry</a:t>
            </a:r>
          </a:p>
        </p:txBody>
      </p:sp>
    </p:spTree>
    <p:extLst>
      <p:ext uri="{BB962C8B-B14F-4D97-AF65-F5344CB8AC3E}">
        <p14:creationId xmlns:p14="http://schemas.microsoft.com/office/powerpoint/2010/main" val="4235633190"/>
      </p:ext>
    </p:extLst>
  </p:cSld>
  <p:clrMapOvr>
    <a:masterClrMapping/>
  </p:clrMapOvr>
  <mc:AlternateContent xmlns:mc="http://schemas.openxmlformats.org/markup-compatibility/2006">
    <mc:Choice xmlns:p14="http://schemas.microsoft.com/office/powerpoint/2010/main" Requires="p14">
      <p:transition spd="slow" p14:dur="2000" advTm="928"/>
    </mc:Choice>
    <mc:Fallback>
      <p:transition spd="slow" advTm="9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4AF5-0087-4D1D-AE84-5ACAAB9DCC45}"/>
              </a:ext>
            </a:extLst>
          </p:cNvPr>
          <p:cNvSpPr>
            <a:spLocks noGrp="1"/>
          </p:cNvSpPr>
          <p:nvPr>
            <p:ph type="title"/>
          </p:nvPr>
        </p:nvSpPr>
        <p:spPr>
          <a:xfrm>
            <a:off x="207390" y="365125"/>
            <a:ext cx="11146410" cy="6492875"/>
          </a:xfrm>
        </p:spPr>
        <p:txBody>
          <a:bodyPr>
            <a:normAutofit/>
          </a:bodyPr>
          <a:lstStyle/>
          <a:p>
            <a:r>
              <a:rPr lang="en-IN" sz="1800" dirty="0">
                <a:solidFill>
                  <a:srgbClr val="00B0F0"/>
                </a:solidFill>
              </a:rPr>
              <a:t># Gender selection (radio buttons)</a:t>
            </a:r>
            <a:br>
              <a:rPr lang="en-IN" sz="1800" dirty="0">
                <a:solidFill>
                  <a:srgbClr val="00B0F0"/>
                </a:solidFill>
              </a:rPr>
            </a:br>
            <a:r>
              <a:rPr lang="en-IN" sz="1800" dirty="0" err="1"/>
              <a:t>tk.Label</a:t>
            </a:r>
            <a:r>
              <a:rPr lang="en-IN" sz="1800" dirty="0"/>
              <a:t>(root, text="Gender", font=</a:t>
            </a:r>
            <a:r>
              <a:rPr lang="en-IN" sz="1800" dirty="0" err="1"/>
              <a:t>label_font</a:t>
            </a:r>
            <a:r>
              <a:rPr lang="en-IN" sz="1800" dirty="0"/>
              <a:t>, </a:t>
            </a:r>
            <a:r>
              <a:rPr lang="en-IN" sz="1800" dirty="0" err="1"/>
              <a:t>bg</a:t>
            </a:r>
            <a:r>
              <a:rPr lang="en-IN" sz="1800" dirty="0"/>
              <a:t>="#e6f2ff").pack()</a:t>
            </a:r>
            <a:br>
              <a:rPr lang="en-IN" sz="1800" dirty="0"/>
            </a:br>
            <a:r>
              <a:rPr lang="en-IN" sz="1800" dirty="0" err="1"/>
              <a:t>gender_var</a:t>
            </a:r>
            <a:r>
              <a:rPr lang="en-IN" sz="1800" dirty="0"/>
              <a:t> = </a:t>
            </a:r>
            <a:r>
              <a:rPr lang="en-IN" sz="1800" dirty="0" err="1"/>
              <a:t>tk.StringVar</a:t>
            </a:r>
            <a:r>
              <a:rPr lang="en-IN" sz="1800" dirty="0"/>
              <a:t>(value="Male")  # Default gender</a:t>
            </a:r>
            <a:br>
              <a:rPr lang="en-IN" sz="1800" dirty="0"/>
            </a:br>
            <a:r>
              <a:rPr lang="en-IN" sz="1800" dirty="0" err="1"/>
              <a:t>tk.Radiobutton</a:t>
            </a:r>
            <a:r>
              <a:rPr lang="en-IN" sz="1800" dirty="0"/>
              <a:t>(root, text="Male", variable=</a:t>
            </a:r>
            <a:r>
              <a:rPr lang="en-IN" sz="1800" dirty="0" err="1"/>
              <a:t>gender_var</a:t>
            </a:r>
            <a:r>
              <a:rPr lang="en-IN" sz="1800" dirty="0"/>
              <a:t>, value="Male", </a:t>
            </a:r>
            <a:r>
              <a:rPr lang="en-IN" sz="1800" dirty="0" err="1"/>
              <a:t>bg</a:t>
            </a:r>
            <a:r>
              <a:rPr lang="en-IN" sz="1800" dirty="0"/>
              <a:t>="#e6f2ff").pack(anchor="w")</a:t>
            </a:r>
            <a:br>
              <a:rPr lang="en-IN" sz="1800" dirty="0"/>
            </a:br>
            <a:r>
              <a:rPr lang="en-IN" sz="1800" dirty="0" err="1"/>
              <a:t>tk.Radiobutton</a:t>
            </a:r>
            <a:r>
              <a:rPr lang="en-IN" sz="1800" dirty="0"/>
              <a:t>(root, text="Female", variable=</a:t>
            </a:r>
            <a:r>
              <a:rPr lang="en-IN" sz="1800" dirty="0" err="1"/>
              <a:t>gender_var</a:t>
            </a:r>
            <a:r>
              <a:rPr lang="en-IN" sz="1800" dirty="0"/>
              <a:t>, value="Female", </a:t>
            </a:r>
            <a:r>
              <a:rPr lang="en-IN" sz="1800" dirty="0" err="1"/>
              <a:t>bg</a:t>
            </a:r>
            <a:r>
              <a:rPr lang="en-IN" sz="1800" dirty="0"/>
              <a:t>="#e6f2ff").pack(anchor="w")</a:t>
            </a:r>
            <a:br>
              <a:rPr lang="en-IN" sz="1800" dirty="0"/>
            </a:br>
            <a:br>
              <a:rPr lang="en-IN" sz="1800" dirty="0"/>
            </a:br>
            <a:r>
              <a:rPr lang="en-IN" sz="1800" dirty="0">
                <a:solidFill>
                  <a:srgbClr val="00B0F0"/>
                </a:solidFill>
              </a:rPr>
              <a:t># Bill Paid selection (radio buttons</a:t>
            </a:r>
            <a:r>
              <a:rPr lang="en-IN" sz="1800" dirty="0"/>
              <a:t>)</a:t>
            </a:r>
            <a:br>
              <a:rPr lang="en-IN" sz="1800" dirty="0"/>
            </a:br>
            <a:r>
              <a:rPr lang="en-IN" sz="1800" dirty="0" err="1"/>
              <a:t>tk.Label</a:t>
            </a:r>
            <a:r>
              <a:rPr lang="en-IN" sz="1800" dirty="0"/>
              <a:t>(root, text="Bill Paid", font=</a:t>
            </a:r>
            <a:r>
              <a:rPr lang="en-IN" sz="1800" dirty="0" err="1"/>
              <a:t>label_font</a:t>
            </a:r>
            <a:r>
              <a:rPr lang="en-IN" sz="1800" dirty="0"/>
              <a:t>, </a:t>
            </a:r>
            <a:r>
              <a:rPr lang="en-IN" sz="1800" dirty="0" err="1"/>
              <a:t>bg</a:t>
            </a:r>
            <a:r>
              <a:rPr lang="en-IN" sz="1800" dirty="0"/>
              <a:t>="#e6f2ff").pack()</a:t>
            </a:r>
            <a:br>
              <a:rPr lang="en-IN" sz="1800" dirty="0"/>
            </a:br>
            <a:r>
              <a:rPr lang="en-IN" sz="1800" dirty="0" err="1"/>
              <a:t>bill_paid_var</a:t>
            </a:r>
            <a:r>
              <a:rPr lang="en-IN" sz="1800" dirty="0"/>
              <a:t> = </a:t>
            </a:r>
            <a:r>
              <a:rPr lang="en-IN" sz="1800" dirty="0" err="1"/>
              <a:t>tk.StringVar</a:t>
            </a:r>
            <a:r>
              <a:rPr lang="en-IN" sz="1800" dirty="0"/>
              <a:t>(value="No")  # Default bill status</a:t>
            </a:r>
            <a:br>
              <a:rPr lang="en-IN" sz="1800" dirty="0"/>
            </a:br>
            <a:r>
              <a:rPr lang="en-IN" sz="1800" dirty="0" err="1"/>
              <a:t>tk.Radiobutton</a:t>
            </a:r>
            <a:r>
              <a:rPr lang="en-IN" sz="1800" dirty="0"/>
              <a:t>(root, text="Yes", variable=</a:t>
            </a:r>
            <a:r>
              <a:rPr lang="en-IN" sz="1800" dirty="0" err="1"/>
              <a:t>bill_paid_var</a:t>
            </a:r>
            <a:r>
              <a:rPr lang="en-IN" sz="1800" dirty="0"/>
              <a:t>, value="Yes", </a:t>
            </a:r>
            <a:r>
              <a:rPr lang="en-IN" sz="1800" dirty="0" err="1"/>
              <a:t>bg</a:t>
            </a:r>
            <a:r>
              <a:rPr lang="en-IN" sz="1800" dirty="0"/>
              <a:t>="#e6f2ff").pack(anchor="w")</a:t>
            </a:r>
            <a:br>
              <a:rPr lang="en-IN" sz="1800" dirty="0"/>
            </a:br>
            <a:r>
              <a:rPr lang="en-IN" sz="1800" dirty="0" err="1"/>
              <a:t>tk.Radiobutton</a:t>
            </a:r>
            <a:r>
              <a:rPr lang="en-IN" sz="1800" dirty="0"/>
              <a:t>(root, text="No", variable=</a:t>
            </a:r>
            <a:r>
              <a:rPr lang="en-IN" sz="1800" dirty="0" err="1"/>
              <a:t>bill_paid_var</a:t>
            </a:r>
            <a:r>
              <a:rPr lang="en-IN" sz="1800" dirty="0"/>
              <a:t>, value="No", </a:t>
            </a:r>
            <a:r>
              <a:rPr lang="en-IN" sz="1800" dirty="0" err="1"/>
              <a:t>bg</a:t>
            </a:r>
            <a:r>
              <a:rPr lang="en-IN" sz="1800" dirty="0"/>
              <a:t>="#e6f2ff").pack(anchor="w")</a:t>
            </a:r>
            <a:br>
              <a:rPr lang="en-IN" sz="1800" dirty="0"/>
            </a:br>
            <a:br>
              <a:rPr lang="en-IN" sz="1800" dirty="0"/>
            </a:br>
            <a:r>
              <a:rPr lang="en-IN" sz="1800" dirty="0">
                <a:solidFill>
                  <a:srgbClr val="00B0F0"/>
                </a:solidFill>
              </a:rPr>
              <a:t># Button to add patient</a:t>
            </a:r>
            <a:br>
              <a:rPr lang="en-IN" sz="1800" dirty="0"/>
            </a:br>
            <a:r>
              <a:rPr lang="en-IN" sz="1800" dirty="0" err="1"/>
              <a:t>tk.Button</a:t>
            </a:r>
            <a:r>
              <a:rPr lang="en-IN" sz="1800" dirty="0"/>
              <a:t>(root, text="Add Patient", command=</a:t>
            </a:r>
            <a:r>
              <a:rPr lang="en-IN" sz="1800" dirty="0" err="1"/>
              <a:t>add_patient</a:t>
            </a:r>
            <a:r>
              <a:rPr lang="en-IN" sz="1800" dirty="0"/>
              <a:t>, </a:t>
            </a:r>
            <a:r>
              <a:rPr lang="en-IN" sz="1800" dirty="0" err="1"/>
              <a:t>bg</a:t>
            </a:r>
            <a:r>
              <a:rPr lang="en-IN" sz="1800" dirty="0"/>
              <a:t>=</a:t>
            </a:r>
            <a:r>
              <a:rPr lang="en-IN" sz="1800" dirty="0" err="1"/>
              <a:t>button_bg</a:t>
            </a:r>
            <a:r>
              <a:rPr lang="en-IN" sz="1800" dirty="0"/>
              <a:t>, </a:t>
            </a:r>
            <a:r>
              <a:rPr lang="en-IN" sz="1800" dirty="0" err="1"/>
              <a:t>fg</a:t>
            </a:r>
            <a:r>
              <a:rPr lang="en-IN" sz="1800" dirty="0"/>
              <a:t>=</a:t>
            </a:r>
            <a:r>
              <a:rPr lang="en-IN" sz="1800" dirty="0" err="1"/>
              <a:t>button_fg</a:t>
            </a:r>
            <a:r>
              <a:rPr lang="en-IN" sz="1800" dirty="0"/>
              <a:t>).pack(</a:t>
            </a:r>
            <a:r>
              <a:rPr lang="en-IN" sz="1800" dirty="0" err="1"/>
              <a:t>pady</a:t>
            </a:r>
            <a:r>
              <a:rPr lang="en-IN" sz="1800" dirty="0"/>
              <a:t>=5)</a:t>
            </a:r>
            <a:br>
              <a:rPr lang="en-IN" sz="1800" dirty="0"/>
            </a:br>
            <a:br>
              <a:rPr lang="en-IN" sz="1800" dirty="0"/>
            </a:br>
            <a:r>
              <a:rPr lang="en-IN" sz="1800" dirty="0">
                <a:solidFill>
                  <a:srgbClr val="00B0F0"/>
                </a:solidFill>
              </a:rPr>
              <a:t># Patient list heading</a:t>
            </a:r>
            <a:br>
              <a:rPr lang="en-IN" sz="1800" dirty="0">
                <a:solidFill>
                  <a:srgbClr val="00B0F0"/>
                </a:solidFill>
              </a:rPr>
            </a:br>
            <a:r>
              <a:rPr lang="en-IN" sz="1800" dirty="0" err="1"/>
              <a:t>tk.Label</a:t>
            </a:r>
            <a:r>
              <a:rPr lang="en-IN" sz="1800" dirty="0"/>
              <a:t>(root, text="Patient Records", font=("Arial", 14), </a:t>
            </a:r>
            <a:r>
              <a:rPr lang="en-IN" sz="1800" dirty="0" err="1"/>
              <a:t>bg</a:t>
            </a:r>
            <a:r>
              <a:rPr lang="en-IN" sz="1800" dirty="0"/>
              <a:t>="#e6f2ff", </a:t>
            </a:r>
            <a:r>
              <a:rPr lang="en-IN" sz="1800" dirty="0" err="1"/>
              <a:t>fg</a:t>
            </a:r>
            <a:r>
              <a:rPr lang="en-IN" sz="1800" dirty="0"/>
              <a:t>="#333").pack(</a:t>
            </a:r>
            <a:r>
              <a:rPr lang="en-IN" sz="1800" dirty="0" err="1"/>
              <a:t>pady</a:t>
            </a:r>
            <a:r>
              <a:rPr lang="en-IN" sz="1800" dirty="0"/>
              <a:t>=10)</a:t>
            </a:r>
            <a:br>
              <a:rPr lang="en-IN" sz="1800" dirty="0"/>
            </a:br>
            <a:br>
              <a:rPr lang="en-IN" sz="1800" dirty="0"/>
            </a:br>
            <a:r>
              <a:rPr lang="en-IN" sz="1800" dirty="0">
                <a:solidFill>
                  <a:srgbClr val="00B0F0"/>
                </a:solidFill>
              </a:rPr>
              <a:t># </a:t>
            </a:r>
            <a:r>
              <a:rPr lang="en-IN" sz="1800" dirty="0" err="1">
                <a:solidFill>
                  <a:srgbClr val="00B0F0"/>
                </a:solidFill>
              </a:rPr>
              <a:t>Listbox</a:t>
            </a:r>
            <a:r>
              <a:rPr lang="en-IN" sz="1800" dirty="0">
                <a:solidFill>
                  <a:srgbClr val="00B0F0"/>
                </a:solidFill>
              </a:rPr>
              <a:t> to display patient names and ages</a:t>
            </a:r>
            <a:br>
              <a:rPr lang="en-IN" sz="1800" dirty="0">
                <a:solidFill>
                  <a:srgbClr val="00B0F0"/>
                </a:solidFill>
              </a:rPr>
            </a:br>
            <a:r>
              <a:rPr lang="en-IN" sz="1800" dirty="0" err="1">
                <a:solidFill>
                  <a:schemeClr val="tx1">
                    <a:lumMod val="95000"/>
                    <a:lumOff val="5000"/>
                  </a:schemeClr>
                </a:solidFill>
              </a:rPr>
              <a:t>patient_list</a:t>
            </a:r>
            <a:r>
              <a:rPr lang="en-IN" sz="1800" dirty="0">
                <a:solidFill>
                  <a:schemeClr val="tx1">
                    <a:lumMod val="95000"/>
                    <a:lumOff val="5000"/>
                  </a:schemeClr>
                </a:solidFill>
              </a:rPr>
              <a:t> = </a:t>
            </a:r>
            <a:r>
              <a:rPr lang="en-IN" sz="1800" dirty="0" err="1">
                <a:solidFill>
                  <a:schemeClr val="tx1">
                    <a:lumMod val="95000"/>
                    <a:lumOff val="5000"/>
                  </a:schemeClr>
                </a:solidFill>
              </a:rPr>
              <a:t>tk.Listbox</a:t>
            </a:r>
            <a:r>
              <a:rPr lang="en-IN" sz="1800" dirty="0">
                <a:solidFill>
                  <a:schemeClr val="tx1">
                    <a:lumMod val="95000"/>
                    <a:lumOff val="5000"/>
                  </a:schemeClr>
                </a:solidFill>
              </a:rPr>
              <a:t>(root, width=50)</a:t>
            </a:r>
            <a:br>
              <a:rPr lang="en-IN" sz="1800" dirty="0">
                <a:solidFill>
                  <a:schemeClr val="tx1">
                    <a:lumMod val="95000"/>
                    <a:lumOff val="5000"/>
                  </a:schemeClr>
                </a:solidFill>
              </a:rPr>
            </a:br>
            <a:r>
              <a:rPr lang="en-IN" sz="1800" dirty="0" err="1"/>
              <a:t>patient_list.pack</a:t>
            </a:r>
            <a:r>
              <a:rPr lang="en-IN" sz="1800" dirty="0"/>
              <a:t>(</a:t>
            </a:r>
            <a:r>
              <a:rPr lang="en-IN" sz="1800" dirty="0" err="1"/>
              <a:t>pady</a:t>
            </a:r>
            <a:r>
              <a:rPr lang="en-IN" sz="1800" dirty="0"/>
              <a:t>=5)</a:t>
            </a:r>
          </a:p>
        </p:txBody>
      </p:sp>
    </p:spTree>
    <p:extLst>
      <p:ext uri="{BB962C8B-B14F-4D97-AF65-F5344CB8AC3E}">
        <p14:creationId xmlns:p14="http://schemas.microsoft.com/office/powerpoint/2010/main" val="2698995688"/>
      </p:ext>
    </p:extLst>
  </p:cSld>
  <p:clrMapOvr>
    <a:masterClrMapping/>
  </p:clrMapOvr>
  <mc:AlternateContent xmlns:mc="http://schemas.openxmlformats.org/markup-compatibility/2006">
    <mc:Choice xmlns:p14="http://schemas.microsoft.com/office/powerpoint/2010/main" Requires="p14">
      <p:transition spd="slow" p14:dur="2000" advTm="1250"/>
    </mc:Choice>
    <mc:Fallback>
      <p:transition spd="slow" advTm="125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11F4-4B5A-4AC2-9C10-3A662BEBA170}"/>
              </a:ext>
            </a:extLst>
          </p:cNvPr>
          <p:cNvSpPr>
            <a:spLocks noGrp="1"/>
          </p:cNvSpPr>
          <p:nvPr>
            <p:ph type="title"/>
          </p:nvPr>
        </p:nvSpPr>
        <p:spPr>
          <a:xfrm>
            <a:off x="433633" y="365125"/>
            <a:ext cx="10920167" cy="6280772"/>
          </a:xfrm>
        </p:spPr>
        <p:txBody>
          <a:bodyPr>
            <a:normAutofit/>
          </a:bodyPr>
          <a:lstStyle/>
          <a:p>
            <a:r>
              <a:rPr lang="en-IN" sz="2200" dirty="0">
                <a:solidFill>
                  <a:srgbClr val="00B0F0"/>
                </a:solidFill>
              </a:rPr>
              <a:t># Buttons for operations: Show, Search, Update, Delete</a:t>
            </a:r>
            <a:br>
              <a:rPr lang="en-IN" sz="2200" dirty="0"/>
            </a:br>
            <a:r>
              <a:rPr lang="en-IN" sz="2200" dirty="0"/>
              <a:t>buttons = [</a:t>
            </a:r>
            <a:br>
              <a:rPr lang="en-IN" sz="2200" dirty="0"/>
            </a:br>
            <a:r>
              <a:rPr lang="en-IN" sz="2200" dirty="0"/>
              <a:t>    ("Show Details", </a:t>
            </a:r>
            <a:r>
              <a:rPr lang="en-IN" sz="2200" dirty="0" err="1"/>
              <a:t>show_selected</a:t>
            </a:r>
            <a:r>
              <a:rPr lang="en-IN" sz="2200" dirty="0"/>
              <a:t>),</a:t>
            </a:r>
            <a:br>
              <a:rPr lang="en-IN" sz="2200" dirty="0"/>
            </a:br>
            <a:r>
              <a:rPr lang="en-IN" sz="2200" dirty="0"/>
              <a:t>    ("Search Patient", </a:t>
            </a:r>
            <a:r>
              <a:rPr lang="en-IN" sz="2200" dirty="0" err="1"/>
              <a:t>search_patient</a:t>
            </a:r>
            <a:r>
              <a:rPr lang="en-IN" sz="2200" dirty="0"/>
              <a:t>),</a:t>
            </a:r>
            <a:br>
              <a:rPr lang="en-IN" sz="2200" dirty="0"/>
            </a:br>
            <a:r>
              <a:rPr lang="en-IN" sz="2200" dirty="0"/>
              <a:t>    ("Update Patient", </a:t>
            </a:r>
            <a:r>
              <a:rPr lang="en-IN" sz="2200" dirty="0" err="1"/>
              <a:t>update_patient</a:t>
            </a:r>
            <a:r>
              <a:rPr lang="en-IN" sz="2200" dirty="0"/>
              <a:t>),</a:t>
            </a:r>
            <a:br>
              <a:rPr lang="en-IN" sz="2200" dirty="0"/>
            </a:br>
            <a:r>
              <a:rPr lang="en-IN" sz="2200" dirty="0"/>
              <a:t>    ("Delete Patient", </a:t>
            </a:r>
            <a:r>
              <a:rPr lang="en-IN" sz="2200" dirty="0" err="1"/>
              <a:t>delete_patient</a:t>
            </a:r>
            <a:r>
              <a:rPr lang="en-IN" sz="2200" dirty="0"/>
              <a:t>)</a:t>
            </a:r>
            <a:br>
              <a:rPr lang="en-IN" sz="2200" dirty="0"/>
            </a:br>
            <a:r>
              <a:rPr lang="en-IN" sz="2200" dirty="0"/>
              <a:t>]</a:t>
            </a:r>
            <a:br>
              <a:rPr lang="en-IN" sz="2200" dirty="0"/>
            </a:br>
            <a:r>
              <a:rPr lang="en-IN" sz="2200" dirty="0"/>
              <a:t>for text, command in buttons:</a:t>
            </a:r>
            <a:br>
              <a:rPr lang="en-IN" sz="2200" dirty="0"/>
            </a:br>
            <a:r>
              <a:rPr lang="en-IN" sz="2200" dirty="0"/>
              <a:t>    </a:t>
            </a:r>
            <a:r>
              <a:rPr lang="en-IN" sz="2200" dirty="0" err="1"/>
              <a:t>tk.Button</a:t>
            </a:r>
            <a:r>
              <a:rPr lang="en-IN" sz="2200" dirty="0"/>
              <a:t>(root, text=text, command=command, </a:t>
            </a:r>
            <a:r>
              <a:rPr lang="en-IN" sz="2200" dirty="0" err="1"/>
              <a:t>bg</a:t>
            </a:r>
            <a:r>
              <a:rPr lang="en-IN" sz="2200" dirty="0"/>
              <a:t>="#2196F3", </a:t>
            </a:r>
            <a:r>
              <a:rPr lang="en-IN" sz="2200" dirty="0" err="1"/>
              <a:t>fg</a:t>
            </a:r>
            <a:r>
              <a:rPr lang="en-IN" sz="2200" dirty="0"/>
              <a:t>="white").pack(</a:t>
            </a:r>
            <a:r>
              <a:rPr lang="en-IN" sz="2200" dirty="0" err="1"/>
              <a:t>pady</a:t>
            </a:r>
            <a:r>
              <a:rPr lang="en-IN" sz="2200" dirty="0"/>
              <a:t>=3)</a:t>
            </a:r>
            <a:br>
              <a:rPr lang="en-IN" sz="2200" dirty="0"/>
            </a:br>
            <a:br>
              <a:rPr lang="en-IN" sz="2200" dirty="0"/>
            </a:br>
            <a:r>
              <a:rPr lang="en-IN" sz="2200" dirty="0">
                <a:solidFill>
                  <a:srgbClr val="00B0F0"/>
                </a:solidFill>
              </a:rPr>
              <a:t># Load patients into </a:t>
            </a:r>
            <a:r>
              <a:rPr lang="en-IN" sz="2200" dirty="0" err="1">
                <a:solidFill>
                  <a:srgbClr val="00B0F0"/>
                </a:solidFill>
              </a:rPr>
              <a:t>listbox</a:t>
            </a:r>
            <a:r>
              <a:rPr lang="en-IN" sz="2200" dirty="0">
                <a:solidFill>
                  <a:srgbClr val="00B0F0"/>
                </a:solidFill>
              </a:rPr>
              <a:t> on app start</a:t>
            </a:r>
            <a:br>
              <a:rPr lang="en-IN" sz="2200" dirty="0"/>
            </a:br>
            <a:r>
              <a:rPr lang="en-IN" sz="2200" dirty="0" err="1"/>
              <a:t>refresh_display</a:t>
            </a:r>
            <a:r>
              <a:rPr lang="en-IN" sz="2200" dirty="0"/>
              <a:t>()</a:t>
            </a:r>
            <a:br>
              <a:rPr lang="en-IN" dirty="0"/>
            </a:br>
            <a:br>
              <a:rPr lang="en-IN" dirty="0"/>
            </a:br>
            <a:r>
              <a:rPr lang="en-IN" sz="2200" dirty="0">
                <a:solidFill>
                  <a:srgbClr val="00B0F0"/>
                </a:solidFill>
              </a:rPr>
              <a:t># Run the GUI loop (wait for user interaction)</a:t>
            </a:r>
            <a:br>
              <a:rPr lang="en-IN" sz="2200" dirty="0">
                <a:solidFill>
                  <a:srgbClr val="00B0F0"/>
                </a:solidFill>
              </a:rPr>
            </a:br>
            <a:r>
              <a:rPr lang="en-IN" sz="2200" dirty="0" err="1"/>
              <a:t>root.mainloop</a:t>
            </a:r>
            <a:r>
              <a:rPr lang="en-IN" sz="2200" dirty="0"/>
              <a:t>()</a:t>
            </a:r>
          </a:p>
        </p:txBody>
      </p:sp>
    </p:spTree>
    <p:extLst>
      <p:ext uri="{BB962C8B-B14F-4D97-AF65-F5344CB8AC3E}">
        <p14:creationId xmlns:p14="http://schemas.microsoft.com/office/powerpoint/2010/main" val="2853747675"/>
      </p:ext>
    </p:extLst>
  </p:cSld>
  <p:clrMapOvr>
    <a:masterClrMapping/>
  </p:clrMapOvr>
  <mc:AlternateContent xmlns:mc="http://schemas.openxmlformats.org/markup-compatibility/2006">
    <mc:Choice xmlns:p14="http://schemas.microsoft.com/office/powerpoint/2010/main" Requires="p14">
      <p:transition spd="slow" p14:dur="2000" advTm="1460"/>
    </mc:Choice>
    <mc:Fallback>
      <p:transition spd="slow" advTm="146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1BEC-A263-495D-B68E-4ED010B9736B}"/>
              </a:ext>
            </a:extLst>
          </p:cNvPr>
          <p:cNvSpPr>
            <a:spLocks noGrp="1"/>
          </p:cNvSpPr>
          <p:nvPr>
            <p:ph type="title"/>
          </p:nvPr>
        </p:nvSpPr>
        <p:spPr>
          <a:xfrm>
            <a:off x="0" y="-269760"/>
            <a:ext cx="1829585" cy="1325563"/>
          </a:xfrm>
        </p:spPr>
        <p:txBody>
          <a:bodyPr>
            <a:normAutofit/>
          </a:bodyPr>
          <a:lstStyle/>
          <a:p>
            <a:r>
              <a:rPr lang="en-US" sz="2000" dirty="0">
                <a:solidFill>
                  <a:srgbClr val="FF0000"/>
                </a:solidFill>
              </a:rPr>
              <a:t>Output results</a:t>
            </a:r>
            <a:r>
              <a:rPr lang="en-US" sz="2000" dirty="0"/>
              <a:t>: </a:t>
            </a:r>
            <a:endParaRPr lang="en-IN" sz="2000" dirty="0"/>
          </a:p>
        </p:txBody>
      </p:sp>
      <p:pic>
        <p:nvPicPr>
          <p:cNvPr id="4" name="Picture 3">
            <a:extLst>
              <a:ext uri="{FF2B5EF4-FFF2-40B4-BE49-F238E27FC236}">
                <a16:creationId xmlns:a16="http://schemas.microsoft.com/office/drawing/2014/main" id="{44910A76-9BDD-46B4-A120-A36E23ED86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8730"/>
            <a:ext cx="12192000" cy="6207551"/>
          </a:xfrm>
          <a:prstGeom prst="rect">
            <a:avLst/>
          </a:prstGeom>
        </p:spPr>
      </p:pic>
    </p:spTree>
    <p:extLst>
      <p:ext uri="{BB962C8B-B14F-4D97-AF65-F5344CB8AC3E}">
        <p14:creationId xmlns:p14="http://schemas.microsoft.com/office/powerpoint/2010/main" val="681849516"/>
      </p:ext>
    </p:extLst>
  </p:cSld>
  <p:clrMapOvr>
    <a:masterClrMapping/>
  </p:clrMapOvr>
  <mc:AlternateContent xmlns:mc="http://schemas.openxmlformats.org/markup-compatibility/2006">
    <mc:Choice xmlns:p14="http://schemas.microsoft.com/office/powerpoint/2010/main" Requires="p14">
      <p:transition spd="slow" p14:dur="2000" advTm="2226"/>
    </mc:Choice>
    <mc:Fallback>
      <p:transition spd="slow" advTm="222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F40B3-06FB-4A9A-9207-52F46040C673}"/>
              </a:ext>
            </a:extLst>
          </p:cNvPr>
          <p:cNvSpPr>
            <a:spLocks noGrp="1"/>
          </p:cNvSpPr>
          <p:nvPr>
            <p:ph type="title"/>
          </p:nvPr>
        </p:nvSpPr>
        <p:spPr>
          <a:xfrm>
            <a:off x="838200" y="365125"/>
            <a:ext cx="10515600" cy="5997968"/>
          </a:xfrm>
        </p:spPr>
        <p:txBody>
          <a:bodyPr/>
          <a:lstStyle/>
          <a:p>
            <a:endParaRPr lang="en-IN" dirty="0"/>
          </a:p>
        </p:txBody>
      </p:sp>
      <p:pic>
        <p:nvPicPr>
          <p:cNvPr id="4" name="Picture 3">
            <a:extLst>
              <a:ext uri="{FF2B5EF4-FFF2-40B4-BE49-F238E27FC236}">
                <a16:creationId xmlns:a16="http://schemas.microsoft.com/office/drawing/2014/main" id="{51B7D0C1-0F8B-477D-BDB8-8E458D5C3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548"/>
            <a:ext cx="5778631" cy="6858000"/>
          </a:xfrm>
          <a:prstGeom prst="rect">
            <a:avLst/>
          </a:prstGeom>
        </p:spPr>
      </p:pic>
      <p:pic>
        <p:nvPicPr>
          <p:cNvPr id="6" name="Picture 5">
            <a:extLst>
              <a:ext uri="{FF2B5EF4-FFF2-40B4-BE49-F238E27FC236}">
                <a16:creationId xmlns:a16="http://schemas.microsoft.com/office/drawing/2014/main" id="{68A187DC-4FD6-463E-94F7-7C933E4E50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631" y="122548"/>
            <a:ext cx="6309135" cy="6858000"/>
          </a:xfrm>
          <a:prstGeom prst="rect">
            <a:avLst/>
          </a:prstGeom>
        </p:spPr>
      </p:pic>
    </p:spTree>
    <p:extLst>
      <p:ext uri="{BB962C8B-B14F-4D97-AF65-F5344CB8AC3E}">
        <p14:creationId xmlns:p14="http://schemas.microsoft.com/office/powerpoint/2010/main" val="4040822876"/>
      </p:ext>
    </p:extLst>
  </p:cSld>
  <p:clrMapOvr>
    <a:masterClrMapping/>
  </p:clrMapOvr>
  <mc:AlternateContent xmlns:mc="http://schemas.openxmlformats.org/markup-compatibility/2006">
    <mc:Choice xmlns:p14="http://schemas.microsoft.com/office/powerpoint/2010/main" Requires="p14">
      <p:transition spd="slow" p14:dur="2000" advTm="1841"/>
    </mc:Choice>
    <mc:Fallback>
      <p:transition spd="slow" advTm="184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B6B73-727D-445F-AA93-02B1A4657640}"/>
              </a:ext>
            </a:extLst>
          </p:cNvPr>
          <p:cNvSpPr>
            <a:spLocks noGrp="1"/>
          </p:cNvSpPr>
          <p:nvPr>
            <p:ph type="title"/>
          </p:nvPr>
        </p:nvSpPr>
        <p:spPr>
          <a:xfrm>
            <a:off x="329939" y="365125"/>
            <a:ext cx="11880915" cy="6403320"/>
          </a:xfrm>
        </p:spPr>
        <p:txBody>
          <a:bodyPr>
            <a:normAutofit/>
          </a:bodyPr>
          <a:lstStyle/>
          <a:p>
            <a:r>
              <a:rPr lang="en-US" sz="2000" dirty="0">
                <a:solidFill>
                  <a:srgbClr val="FF0000"/>
                </a:solidFill>
                <a:latin typeface="Arial Black" panose="020B0A04020102020204" pitchFamily="34" charset="0"/>
              </a:rPr>
              <a:t>Conclusion:</a:t>
            </a:r>
            <a:br>
              <a:rPr lang="en-US" sz="2000" dirty="0">
                <a:latin typeface="Arial Black" panose="020B0A04020102020204" pitchFamily="34" charset="0"/>
              </a:rPr>
            </a:br>
            <a:r>
              <a:rPr lang="en-US" sz="2000" dirty="0"/>
              <a:t>The Hospital Management System developed using Python and </a:t>
            </a:r>
            <a:r>
              <a:rPr lang="en-US" sz="2000" dirty="0" err="1"/>
              <a:t>Tkinter</a:t>
            </a:r>
            <a:r>
              <a:rPr lang="en-US" sz="2000" dirty="0"/>
              <a:t> successfully addresses the need for a basic yet functional patient record-keeping solution. It allows for seamless management of patient data, including adding, updating, viewing, searching, and deleting patient records through a simple and intuitive graphical user interface. By storing data in a text file, it eliminates the need for complex database setups, making it lightweight and suitable for small clinics, personal use, or educational purposes. The modular design and clean layout make the application user-friendly and easy to maintain or upgrade in the future. Overall, the project demonstrates the practical use of Python for solving real-world problems in healthcare administration at a small scale.</a:t>
            </a:r>
            <a:br>
              <a:rPr lang="en-US" sz="2000" dirty="0"/>
            </a:br>
            <a:br>
              <a:rPr lang="en-US" sz="2000" dirty="0"/>
            </a:br>
            <a:br>
              <a:rPr lang="en-US" sz="2000" dirty="0"/>
            </a:br>
            <a:br>
              <a:rPr lang="en-US" sz="2000" dirty="0"/>
            </a:br>
            <a:br>
              <a:rPr lang="en-US" sz="2000" dirty="0"/>
            </a:br>
            <a:r>
              <a:rPr lang="en-US" sz="2000" dirty="0">
                <a:solidFill>
                  <a:srgbClr val="FF0000"/>
                </a:solidFill>
                <a:latin typeface="Arial Black" panose="020B0A04020102020204" pitchFamily="34" charset="0"/>
              </a:rPr>
              <a:t>Applications :</a:t>
            </a:r>
            <a:br>
              <a:rPr lang="en-US" sz="2000" dirty="0"/>
            </a:br>
            <a:r>
              <a:rPr lang="en-US" sz="2000" dirty="0"/>
              <a:t>1. Small Clinics &amp; Dispensaries:</a:t>
            </a:r>
            <a:br>
              <a:rPr lang="en-US" sz="2000" dirty="0"/>
            </a:br>
            <a:r>
              <a:rPr lang="en-US" sz="2000" dirty="0"/>
              <a:t>2. Home-based Healthcare Providers</a:t>
            </a:r>
            <a:br>
              <a:rPr lang="en-US" sz="2000" dirty="0"/>
            </a:br>
            <a:r>
              <a:rPr lang="en-US" sz="2000" dirty="0"/>
              <a:t>3. Medical Students &amp; Interns</a:t>
            </a:r>
            <a:br>
              <a:rPr lang="en-US" sz="2000" dirty="0"/>
            </a:br>
            <a:r>
              <a:rPr lang="en-US" sz="2000" dirty="0"/>
              <a:t>4. Mobile Health Camps</a:t>
            </a:r>
            <a:br>
              <a:rPr lang="en-US" sz="2000" dirty="0"/>
            </a:br>
            <a:r>
              <a:rPr lang="en-US" sz="2000" dirty="0"/>
              <a:t>5. Personal Use for Health Tracking</a:t>
            </a:r>
            <a:br>
              <a:rPr lang="en-US" sz="2000" dirty="0"/>
            </a:br>
            <a:r>
              <a:rPr lang="en-US" sz="2000" dirty="0"/>
              <a:t>6. Administrative Training Tool.</a:t>
            </a:r>
            <a:endParaRPr lang="en-IN" sz="2000" dirty="0"/>
          </a:p>
        </p:txBody>
      </p:sp>
    </p:spTree>
    <p:extLst>
      <p:ext uri="{BB962C8B-B14F-4D97-AF65-F5344CB8AC3E}">
        <p14:creationId xmlns:p14="http://schemas.microsoft.com/office/powerpoint/2010/main" val="2183971625"/>
      </p:ext>
    </p:extLst>
  </p:cSld>
  <p:clrMapOvr>
    <a:masterClrMapping/>
  </p:clrMapOvr>
  <mc:AlternateContent xmlns:mc="http://schemas.openxmlformats.org/markup-compatibility/2006">
    <mc:Choice xmlns:p14="http://schemas.microsoft.com/office/powerpoint/2010/main" Requires="p14">
      <p:transition spd="slow" p14:dur="2000" advTm="3801"/>
    </mc:Choice>
    <mc:Fallback>
      <p:transition spd="slow" advTm="380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2826</Words>
  <Application>Microsoft Office PowerPoint</Application>
  <PresentationFormat>Widescreen</PresentationFormat>
  <Paragraphs>29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Calibri</vt:lpstr>
      <vt:lpstr>Calibri Light</vt:lpstr>
      <vt:lpstr>Cambria</vt:lpstr>
      <vt:lpstr>Times New Roman</vt:lpstr>
      <vt:lpstr>Office Theme</vt:lpstr>
      <vt:lpstr>TEAM MEMBERS</vt:lpstr>
      <vt:lpstr>                                          ABSTRACT: TITLE:HOSPITAL MANAGEMENT RECORD  This project presents a simple yet effective Hospital Management System built using Python's Tkinter library for the graphical user interface. The application is designed to manage patient data in small clinics or healthcare setups by allowing users to add, view, search, update, and delete patient records easily. Each patient record includes key information such as name, age, phone number, gender, illness, a fixed consultant fee, and the bill payment status. The GUI is user-friendly, designed with a clean layout, and features a light blue background to enhance visual appeal and usability. Input fields are provided for user entry, along with radio buttons to select gender and bill status. The system uses a patients.txt file to store records persistently without requiring a database, making it lightweight and portable . Functionality is divided into modules, with clear separation between data handling (file I/O) and interface controls. Patients are displayed in a listbox , and their details can be viewed in pop-up dialogs. Users can search for a patient by name using a keyword search, or update and delete existing records with confirmation prompts to avoid accidental changes. On launching the program, all stored patient records are loaded automatically into the interface. This project is a practical implementation of Python’s core features, combining GUI programming, file handling, and basic data management. It provides an excellent foundation for understanding how desktop-based record systems work and can be further extended with database integration or more advanced features in the future.</vt:lpstr>
      <vt:lpstr># ----------------- IMPORTS ----------------- import tkinter as tk  # GUI components from tkinter import messagebox, simpledialog  # Popups &amp; dialogs for alerts and input import os  # File system operations  # ----------------- FILE CONFIG ----------------- FILENAME = "patients.txt"  # Text file used to store patient records  # ----------------- FILE OPERATIONS -----------------  # Function to read patient records from the file def read_patients():     if not os.path.exists(FILENAME):  # If the file doesn't exist yet         return []  # Return empty list     with open(FILENAME, "r") as file: # here we open the file with read mode         return [line.strip().split(",") for line in file.readlines()]  # Each line is split by commas into a list and strip is used for removing the space before and after input enter  # Function to write (overwrite) patient records into the file def write_patients(patients):     with open(FILENAME, "w") as file:  # Opens file in write mode (overwrites old content)         for p in patients:             file.write(",".join(p) + "\n")  # Join each patient record list with commas and write it to file</vt:lpstr>
      <vt:lpstr>  # ----------------- FUNCTIONALITY ----------------- # Function to add a new patient to file and update display def add_patient():     # Get the values from form inputs     name = name_entry.get().strip()     age = age_entry.get().strip()     phone = phone_entry.get().strip()     gender = gender_var.get()     illness = illness_entry.get().strip()     bill_paid = bill_paid_var.get()     consultant_fee = "300"  # Fixed consultant fee     # Validate required fields     if not name or not age or not phone or not illness:         messagebox.showwarning("Input Error", "All fields are required.")         return     # Write new patient record to the file     with open(FILENAME, "a") as file:  # Open in append mode to add new record         file.write(f"{name},{age},{phone},{gender},{illness},{consultant_fee},{bill_paid}\n")     messagebox.showinfo("Success", "Patient record added.")     clear_fields()  # Clear the form fields after adding     refresh_display()  # Update the listbox to show the new patient # Refreshes the Listbox display with current patients def refresh_display():     patient_list.delete(0, tk.END)  # Clear all existing items     for p in read_patients():         patient_list.insert(tk.END, f"{p[0]} ({p[1]} yrs)")  # Add patient's name and age</vt:lpstr>
      <vt:lpstr># Displays full details of selected patient in popup def show_selected():     index = patient_list.curselection()     if not index:         return     patient = read_patients()[index[0]]     messagebox.showinfo("Patient Details",         f"Name: {patient[0]}\nAge: {patient[1]}\nPhone: {patient[2]}\nGender: {patient[3]}"         f"\nIllness: {patient[4]}\nConsultant Fee: ₹{patient[5]}\nBill Paid: {patient[6]}"     ) # Searches patients by name def search_patient():     keyword = simpledialog.askstring("Search", "Enter patient name:")  # Prompt user     if not keyword:         return     results = [p for p in read_patients() if keyword.lower() in p[0].lower()]  # Filter records by name match     if results:         # Format multiple results         text = "\n\n".join([             f"Name: {p[0]}\nAge: {p[1]}\nPhone: {p[2]}\nGender: {p[3]}"             f"\nIllness: {p[4]}\nFee: ₹{p[5]}\nBill Paid: {p[6]}"             for p in results         ])         messagebox.showinfo("Search Results", text)     else:         messagebox.showinfo("Search Results", "No patient found.")  </vt:lpstr>
      <vt:lpstr># Deletes the selected patient from file def delete_patient():     index = patient_list.curselection()  # Get selected index     if not index:         messagebox.showwarning("Select Patient", "Please select a patient to delete.")         return     patients = read_patients()     selected = patients[index[0]]     # Confirm deletion     confirm = messagebox.askyesno("Confirm Delete", f"Are you sure you want to delete {selected[0]}?")     if confirm:         del patients[index[0]]  # Remove selected patient         write_patients(patients)  # Save updated list         messagebox.showinfo("Deleted", f"Deleted patient: {selected[0]}")         refresh_display()  # Refresh display # Updates the selected patient by prompting for new details def update_patient():     index = patient_list.curselection()     if not index:         messagebox.showwarning("Select Patient", "Select a patient to update.")         return     patients = read_patients()     selected = patients[index[0]]   </vt:lpstr>
      <vt:lpstr> # Prompt for updated values with existing ones pre-filled     new_name = simpledialog.askstring("Update", "New Name:", initialvalue=selected[0])     new_age = simpledialog.askstring("Update", "New Age:", initialvalue=selected[1])     new_phone = simpledialog.askstring("Update", "New Phone:", initialvalue=selected[2])     new_gender = simpledialog.askstring("Update", "Gender:", initialvalue=selected[3])     new_illness = simpledialog.askstring("Update", "Illness:", initialvalue=selected[4])     new_bill_paid = simpledialog.askstring("Update", "Bill Paid (Yes/No):", initialvalue=selected[6])     # Validate input     if not new_name or not new_age or not new_phone or not new_gender or not new_illness or not new_bill_paid:         messagebox.showerror("Invalid Input", "All fields must be filled.")         return     # Update record     patients[index[0]] = [new_name, new_age, new_phone, new_gender, new_illness, "300", new_bill_paid]     write_patients(patients)     messagebox.showinfo("Updated", "Patient record updated successfully.")     refresh_display() # Clears the input form fields def clear_fields():     name_entry.delete(0, tk.END)     age_entry.delete(0, tk.END)     phone_entry.delete(0, tk.END)     illness_entry.delete(0, tk.END)     gender_var.set("Male")  # Reset to default     bill_paid_var.set("No")  # Reset to default </vt:lpstr>
      <vt:lpstr> # ----------------- GUI SETUP ----------------- root = tk.Tk()  # Create the main window root.title("Hospital Management System")  # Title of the window root.geometry("500x720")  # Size of the window root.config(bg="#e6f2ff")  # Set background color to light blue # Font and color styling label_font = ("Arial", 12) entry_bg = "#ffffff"  # White entry boxes button_bg = "#4CAF50"  # Green button background button_fg = "white"  # White text on buttons # Main heading tk.Label(root, text="Patient Details", font=("Arial", 16, "bold"), bg="#e6f2ff", fg="#333").pack(pady=10) # Form Fields for label in ["Name", "Age", "Phone Number", "Illness"]:     tk.Label(root, text=label, font=label_font, bg="#e6f2ff").pack()  # Create label     entry = tk.Entry(root, bg=entry_bg)  # Create entry input field     entry.pack()     # Save entry widgets to global variables     if label == "Name":         name_entry = entry     elif label == "Age":         age_entry = entry     elif label == "Phone Number":         phone_entry = entry     elif label == "Illness":         illness_entry = entry</vt:lpstr>
      <vt:lpstr># Gender selection (radio buttons) tk.Label(root, text="Gender", font=label_font, bg="#e6f2ff").pack() gender_var = tk.StringVar(value="Male")  # Default gender tk.Radiobutton(root, text="Male", variable=gender_var, value="Male", bg="#e6f2ff").pack(anchor="w") tk.Radiobutton(root, text="Female", variable=gender_var, value="Female", bg="#e6f2ff").pack(anchor="w")  # Bill Paid selection (radio buttons) tk.Label(root, text="Bill Paid", font=label_font, bg="#e6f2ff").pack() bill_paid_var = tk.StringVar(value="No")  # Default bill status tk.Radiobutton(root, text="Yes", variable=bill_paid_var, value="Yes", bg="#e6f2ff").pack(anchor="w") tk.Radiobutton(root, text="No", variable=bill_paid_var, value="No", bg="#e6f2ff").pack(anchor="w")  # Button to add patient tk.Button(root, text="Add Patient", command=add_patient, bg=button_bg, fg=button_fg).pack(pady=5)  # Patient list heading tk.Label(root, text="Patient Records", font=("Arial", 14), bg="#e6f2ff", fg="#333").pack(pady=10)  # Listbox to display patient names and ages patient_list = tk.Listbox(root, width=50) patient_list.pack(pady=5)</vt:lpstr>
      <vt:lpstr># Buttons for operations: Show, Search, Update, Delete buttons = [     ("Show Details", show_selected),     ("Search Patient", search_patient),     ("Update Patient", update_patient),     ("Delete Patient", delete_patient) ] for text, command in buttons:     tk.Button(root, text=text, command=command, bg="#2196F3", fg="white").pack(pady=3)  # Load patients into listbox on app start refresh_display()  # Run the GUI loop (wait for user interaction) root.mainloop()</vt:lpstr>
      <vt:lpstr>Output results: </vt:lpstr>
      <vt:lpstr>PowerPoint Presentation</vt:lpstr>
      <vt:lpstr>Conclusion: The Hospital Management System developed using Python and Tkinter successfully addresses the need for a basic yet functional patient record-keeping solution. It allows for seamless management of patient data, including adding, updating, viewing, searching, and deleting patient records through a simple and intuitive graphical user interface. By storing data in a text file, it eliminates the need for complex database setups, making it lightweight and suitable for small clinics, personal use, or educational purposes. The modular design and clean layout make the application user-friendly and easy to maintain or upgrade in the future. Overall, the project demonstrates the practical use of Python for solving real-world problems in healthcare administration at a small scale.     Applications : 1. Small Clinics &amp; Dispensaries: 2. Home-based Healthcare Providers 3. Medical Students &amp; Interns 4. Mobile Health Camps 5. Personal Use for Health Tracking 6. Administrative Training Tool.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Sowmya Gunda</dc:creator>
  <cp:lastModifiedBy>Sowmya Gunda</cp:lastModifiedBy>
  <cp:revision>8</cp:revision>
  <dcterms:created xsi:type="dcterms:W3CDTF">2025-06-15T10:59:16Z</dcterms:created>
  <dcterms:modified xsi:type="dcterms:W3CDTF">2025-08-03T15:13:22Z</dcterms:modified>
</cp:coreProperties>
</file>